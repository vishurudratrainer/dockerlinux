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63"/>
  </p:notesMasterIdLst>
  <p:handoutMasterIdLst>
    <p:handoutMasterId r:id="rId64"/>
  </p:handoutMasterIdLst>
  <p:sldIdLst>
    <p:sldId id="431" r:id="rId2"/>
    <p:sldId id="361" r:id="rId3"/>
    <p:sldId id="435" r:id="rId4"/>
    <p:sldId id="436" r:id="rId5"/>
    <p:sldId id="437" r:id="rId6"/>
    <p:sldId id="494" r:id="rId7"/>
    <p:sldId id="453" r:id="rId8"/>
    <p:sldId id="438" r:id="rId9"/>
    <p:sldId id="439" r:id="rId10"/>
    <p:sldId id="440" r:id="rId11"/>
    <p:sldId id="441" r:id="rId12"/>
    <p:sldId id="442" r:id="rId13"/>
    <p:sldId id="443" r:id="rId14"/>
    <p:sldId id="444" r:id="rId15"/>
    <p:sldId id="445" r:id="rId16"/>
    <p:sldId id="446" r:id="rId17"/>
    <p:sldId id="485" r:id="rId18"/>
    <p:sldId id="447" r:id="rId19"/>
    <p:sldId id="448" r:id="rId20"/>
    <p:sldId id="449" r:id="rId21"/>
    <p:sldId id="450" r:id="rId22"/>
    <p:sldId id="451" r:id="rId23"/>
    <p:sldId id="486" r:id="rId24"/>
    <p:sldId id="452" r:id="rId25"/>
    <p:sldId id="455" r:id="rId26"/>
    <p:sldId id="459" r:id="rId27"/>
    <p:sldId id="456" r:id="rId28"/>
    <p:sldId id="457" r:id="rId29"/>
    <p:sldId id="458" r:id="rId30"/>
    <p:sldId id="460" r:id="rId31"/>
    <p:sldId id="461" r:id="rId32"/>
    <p:sldId id="462" r:id="rId33"/>
    <p:sldId id="463" r:id="rId34"/>
    <p:sldId id="464" r:id="rId35"/>
    <p:sldId id="487" r:id="rId36"/>
    <p:sldId id="470" r:id="rId37"/>
    <p:sldId id="465" r:id="rId38"/>
    <p:sldId id="466" r:id="rId39"/>
    <p:sldId id="467" r:id="rId40"/>
    <p:sldId id="468" r:id="rId41"/>
    <p:sldId id="469" r:id="rId42"/>
    <p:sldId id="471" r:id="rId43"/>
    <p:sldId id="472" r:id="rId44"/>
    <p:sldId id="473" r:id="rId45"/>
    <p:sldId id="474" r:id="rId46"/>
    <p:sldId id="475" r:id="rId47"/>
    <p:sldId id="476" r:id="rId48"/>
    <p:sldId id="488" r:id="rId49"/>
    <p:sldId id="477" r:id="rId50"/>
    <p:sldId id="478" r:id="rId51"/>
    <p:sldId id="479" r:id="rId52"/>
    <p:sldId id="480" r:id="rId53"/>
    <p:sldId id="481" r:id="rId54"/>
    <p:sldId id="482" r:id="rId55"/>
    <p:sldId id="483" r:id="rId56"/>
    <p:sldId id="484" r:id="rId57"/>
    <p:sldId id="489" r:id="rId58"/>
    <p:sldId id="490" r:id="rId59"/>
    <p:sldId id="491" r:id="rId60"/>
    <p:sldId id="492" r:id="rId61"/>
    <p:sldId id="493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616BCF-1DB3-35E7-C3F3-42916F0F64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78991-0A29-E82C-4DBA-C5D391D232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8AA6D-A894-46CE-B329-FC7F38514FE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9BD76-6927-BF8A-11A8-19DB914B0E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3B792-A6C1-104F-F718-D52DA4123F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2124A3-A3A7-441C-9613-1F818121A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174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BFEF9-B006-4957-9CCB-C2EB49DA0E0D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F93F2D-339B-4503-97C2-2C3CC3E94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85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concepts/workloads/pods/pod-lifecycle/#restart-policy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6417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5257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 store – stores both current state and desired state of the cluster</a:t>
            </a:r>
          </a:p>
          <a:p>
            <a:r>
              <a:rPr lang="en-US" dirty="0" err="1"/>
              <a:t>Etcd</a:t>
            </a:r>
            <a:r>
              <a:rPr lang="en-US" dirty="0"/>
              <a:t> runs on both master and nodes</a:t>
            </a:r>
          </a:p>
          <a:p>
            <a:r>
              <a:rPr lang="en-US" dirty="0"/>
              <a:t>Other components watch this store for any changes. Controllers will make changes if desired state doesn’t match the current state</a:t>
            </a:r>
          </a:p>
          <a:p>
            <a:r>
              <a:rPr lang="en-US" dirty="0"/>
              <a:t>Deviation of end state from current state can happen due to API server being invoked by client or by due to internal cluster issues like node failures, container crashes </a:t>
            </a:r>
            <a:r>
              <a:rPr lang="en-US" dirty="0" err="1"/>
              <a:t>etc</a:t>
            </a:r>
            <a:r>
              <a:rPr lang="en-US" dirty="0"/>
              <a:t>,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7950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https://www.openshift.com/blog/kubernetes-is-removing-docker-support-kubernetes-is-not-removing-docker-support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9668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7485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2617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1291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8449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2975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field gives a more detailed description – e.g. the last error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restart policy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 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spec of a Pod has a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restartPolicy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field with possible values Always,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OnFailure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Never. The default value is Always.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7300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545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3074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4154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Sidecar pattern – main app container plus helper container with functionality that is useful but not part of the main app. </a:t>
            </a:r>
            <a:r>
              <a:rPr lang="en-US" dirty="0" err="1"/>
              <a:t>Eg.</a:t>
            </a:r>
            <a:r>
              <a:rPr lang="en-US" dirty="0"/>
              <a:t> Logging, sync services, watchers, monitoring agents</a:t>
            </a:r>
          </a:p>
          <a:p>
            <a:r>
              <a:rPr lang="en-US" dirty="0"/>
              <a:t>Adapter pattern – used to standardize and normalize application o/p or monitoring data for aggregation</a:t>
            </a:r>
          </a:p>
          <a:p>
            <a:r>
              <a:rPr lang="en-US" dirty="0"/>
              <a:t>Ambassador pattern – way to connect containers with the outside world. It provides a port on localhost for the main container to connect and proxies the request to the external world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47366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10915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8020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7127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272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04879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0488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E.g. if </a:t>
            </a:r>
            <a:r>
              <a:rPr lang="en-US" dirty="0" err="1"/>
              <a:t>maxUnavailable</a:t>
            </a:r>
            <a:r>
              <a:rPr lang="en-US" dirty="0"/>
              <a:t> is 4 and total number of PODs is 10, K8S will kill 4 PODs and the proceed …at no point will there be fewer than 6 PODs available</a:t>
            </a:r>
          </a:p>
          <a:p>
            <a:r>
              <a:rPr lang="en-US" dirty="0"/>
              <a:t>If </a:t>
            </a:r>
            <a:r>
              <a:rPr lang="en-US" dirty="0" err="1"/>
              <a:t>maxSurge</a:t>
            </a:r>
            <a:r>
              <a:rPr lang="en-US" dirty="0"/>
              <a:t> is 3, K8S will create 3 new PODs taking total to 13 and then start killing the old ones</a:t>
            </a:r>
          </a:p>
          <a:p>
            <a:endParaRPr lang="en-US" dirty="0"/>
          </a:p>
          <a:p>
            <a:r>
              <a:rPr lang="en-US" dirty="0"/>
              <a:t>Nice article explaining rolling updates and POD affinity - https://www.bluematador.com/blog/kubernetes-deployments-rolling-update-configuration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88458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411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3393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53066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4716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DNS – service </a:t>
            </a:r>
            <a:r>
              <a:rPr lang="en-US" dirty="0" err="1"/>
              <a:t>name.namespace.cluster</a:t>
            </a:r>
            <a:r>
              <a:rPr lang="en-US" dirty="0"/>
              <a:t> domain suffix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40025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You need either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kube-dns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version 1.7 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CoreDNS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version 0.0.8 or higher to use the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type.</a:t>
            </a:r>
          </a:p>
          <a:p>
            <a:br>
              <a:rPr lang="en-US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01755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possible to assign your own </a:t>
            </a:r>
            <a:r>
              <a:rPr lang="en-US" dirty="0" err="1"/>
              <a:t>ClusterIP</a:t>
            </a:r>
            <a:r>
              <a:rPr lang="en-US" dirty="0"/>
              <a:t> using the </a:t>
            </a:r>
            <a:r>
              <a:rPr lang="en-US" dirty="0" err="1"/>
              <a:t>spec.ClusterIP</a:t>
            </a:r>
            <a:r>
              <a:rPr lang="en-US" dirty="0"/>
              <a:t> attribute. It should be within the CIDR range of the cluster as defined by API server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59888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 allocation range - 30000–32767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4896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78813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72443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30544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76901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35935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11959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14763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1152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emptyDir</a:t>
            </a:r>
            <a:r>
              <a:rPr lang="en-US" dirty="0"/>
              <a:t>  is attached to POD lifecycle but can survive container restarts</a:t>
            </a:r>
          </a:p>
          <a:p>
            <a:r>
              <a:rPr lang="en-US" dirty="0"/>
              <a:t>NFS – can persist beyond POD life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42082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50779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47498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83055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65718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76181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9792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08544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30422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63886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49611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443658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004458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94337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563974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479472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734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802496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3092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067738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Parallel – One Pod created, extra created only for failures, Job completes when Pod is successful</a:t>
            </a:r>
          </a:p>
          <a:p>
            <a:r>
              <a:rPr lang="en-US" dirty="0"/>
              <a:t>Parallel with fixed completion count – Specified number of Pods created, specified number of successful terminations</a:t>
            </a:r>
          </a:p>
          <a:p>
            <a:r>
              <a:rPr lang="en-US" dirty="0"/>
              <a:t>Parallel with work queue - Specified number of Pods created, &gt;=1 pod successful, all others terminated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6324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https://kubernetes.io/docs/concepts/workloads/controllers/statefulset/</a:t>
            </a:r>
          </a:p>
          <a:p>
            <a:endParaRPr lang="en-GB" dirty="0"/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 - You specify a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PersistentVolumeClaim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is shared by all pod replicas. In other words, shared volume.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backing storage obviously must have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ReadWriteMany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ReadOnlyMany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accessMode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you have more than one replica pod.</a:t>
            </a:r>
          </a:p>
          <a:p>
            <a:pPr fontAlgn="base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StatefulSet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You specify a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volumeClaimTemplates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 that each replica pod gets a unique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PersistentVolumeClaim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associated with it. In other words, no shared volume.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Here, the backing storage can have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ReadWriteOnce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accessMode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StatefulSet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useful for running things in cluster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Hadoop cluster, MySQL cluster, where each node has its own storage.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94784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Requests – Pods can request the resource so  k8s will know which node to schedule on. It will reserve that for the Pod. Pod can use more than request</a:t>
            </a:r>
          </a:p>
          <a:p>
            <a:r>
              <a:rPr lang="en-US" dirty="0"/>
              <a:t>Limit – is an upper ceiling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09320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4145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2261-A850-F9C0-8386-87A3C54F0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37264-7F29-53C2-DF6D-5BEECED9E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99B07-663E-A16A-4C0A-AACF73A6D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0BDEE-6D19-4B0C-8C56-68AB06B684D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DC6F3-733A-DB9D-D986-CD9162BF3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52A3C-C957-5B7C-FCE3-27E5B8B1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1928-54CD-485B-ACCE-90E04AD793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887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3655-4218-CA25-D837-F68610DFB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A56D5-97C8-237B-9FFF-180762856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958B8-7703-A5A2-475D-8ABBEFD3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0BDEE-6D19-4B0C-8C56-68AB06B684D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1E766-C532-E08B-E911-061E41AAA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459B4-8070-1098-AE72-767C8736A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1928-54CD-485B-ACCE-90E04AD793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699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B9B15-7585-F17E-7825-429117845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5CA08-9273-E819-81F6-57DCC9A62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C1B82-2FDC-7EBF-144C-A4675EEC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0BDEE-6D19-4B0C-8C56-68AB06B684D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B8FA9-EC59-57A6-D28B-CD66227FB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A1566-C684-CB75-5099-E4144E46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1928-54CD-485B-ACCE-90E04AD793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055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7DB47-8736-D745-D69A-2D433CC30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4063-F41D-240A-D0AD-FC538F629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C365D-B30B-FD83-C110-B7AFE17BE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FCBC2-869E-9471-CBED-3C93373F9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0BDEE-6D19-4B0C-8C56-68AB06B684D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5AA27-B5AF-BE82-43C8-B93FA47E6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D28C6-1FCB-7CF3-85CC-0D2F895F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1928-54CD-485B-ACCE-90E04AD793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76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9822E-2051-6648-A8F5-4A345E5A7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81247-BD8A-679B-3514-66016E79D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F9582-5FE4-4F2F-C0E4-274409C41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0C4420-ABBF-B54C-0CA1-21F0D4D7E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5C246F-7E08-2428-04F6-5F544824D5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E1DC30-B8D5-C7CD-7A19-B85894ED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0BDEE-6D19-4B0C-8C56-68AB06B684D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E05A2-073A-C6D8-5A3D-A0AF77604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0DEF7E-181C-B3C6-500B-7300C588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1928-54CD-485B-ACCE-90E04AD793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50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BC0D-9BB5-2798-372F-6EE19C675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7714D6-88D0-18CF-66BD-A9AAB51DB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0BDEE-6D19-4B0C-8C56-68AB06B684D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1CD33-E149-4DC6-7229-D0AD725C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345D2-E042-E520-1216-B8BBD8C5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1928-54CD-485B-ACCE-90E04AD793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31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6FBD69-B171-0086-28EC-CBA9B5C1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0BDEE-6D19-4B0C-8C56-68AB06B684D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E2440-5E28-28F2-23A1-9C698F8CF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50170-A186-C802-493D-A770D32C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1928-54CD-485B-ACCE-90E04AD793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90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4B8E-A974-AB73-223D-1605944B0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B0D5B-FD5E-7E8B-31FE-37C0F28B8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F4063-C102-AE46-5C23-1BCA542A9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50709-7B4F-D69E-F93E-55DE3A653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0BDEE-6D19-4B0C-8C56-68AB06B684D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4DDBB-103E-2AA5-D43D-5F0DCC1D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D4E66-F56E-8215-2DC2-5FE9D4BC2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1928-54CD-485B-ACCE-90E04AD793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44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72C2D-171B-F43F-371E-D67F9C3D1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6983CE-69D9-4581-3C06-F04065CC7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CEBCE-7621-3F6F-CBB6-AD286F36C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F6820-C513-8E01-8BCD-C9D10D7B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0BDEE-6D19-4B0C-8C56-68AB06B684D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1FD70-9245-04A0-9208-CCEE7D7A3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6849B-1CFA-15FC-4E74-D9E2D3BF5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1928-54CD-485B-ACCE-90E04AD793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92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E1F4-BF4F-3968-E62C-889774D59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B1C87-3B22-C241-139E-5CA9E392A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F9954-40CA-4E21-ADB5-4911610F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0BDEE-6D19-4B0C-8C56-68AB06B684D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E86A2-AAFB-DE5E-751C-35CF8E06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AC8-0A46-772B-761C-C1DDF88DB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1928-54CD-485B-ACCE-90E04AD793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D6A527-9588-06AA-D641-B8CE093AD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D7EB0-BBD5-F8BC-7CBC-515D32BD4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C2A81-4A18-E60D-42C2-932F6B35E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0BDEE-6D19-4B0C-8C56-68AB06B684D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02248-6157-3A6C-98B9-C936FDD1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8B04C-259B-C741-7AB3-60E5D52C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1928-54CD-485B-ACCE-90E04AD793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396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4416" y="1520825"/>
            <a:ext cx="10003200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77C0324-0C45-3D40-B8B5-B5546E14BA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417" y="764314"/>
            <a:ext cx="10001249" cy="360000"/>
          </a:xfrm>
        </p:spPr>
        <p:txBody>
          <a:bodyPr bIns="0">
            <a:no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/>
            </a:lvl1pPr>
            <a:lvl2pPr marL="457189" indent="0">
              <a:lnSpc>
                <a:spcPts val="3733"/>
              </a:lnSpc>
              <a:buNone/>
              <a:defRPr sz="3200"/>
            </a:lvl2pPr>
            <a:lvl3pPr marL="914377" indent="0">
              <a:lnSpc>
                <a:spcPts val="3733"/>
              </a:lnSpc>
              <a:buNone/>
              <a:defRPr sz="3200"/>
            </a:lvl3pPr>
            <a:lvl4pPr marL="1371566" indent="0">
              <a:lnSpc>
                <a:spcPts val="3733"/>
              </a:lnSpc>
              <a:buNone/>
              <a:defRPr sz="3200"/>
            </a:lvl4pPr>
            <a:lvl5pPr marL="1828754" indent="0">
              <a:lnSpc>
                <a:spcPts val="3733"/>
              </a:lnSpc>
              <a:buNone/>
              <a:defRPr sz="32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346FBC2-67D1-184A-8432-E6606941AE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418" y="408469"/>
            <a:ext cx="10001249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02921C0-8CD8-864B-9BDB-5D2BA1765371}"/>
              </a:ext>
            </a:extLst>
          </p:cNvPr>
          <p:cNvSpPr txBox="1">
            <a:spLocks/>
          </p:cNvSpPr>
          <p:nvPr userDrawn="1"/>
        </p:nvSpPr>
        <p:spPr>
          <a:xfrm>
            <a:off x="624418" y="6255021"/>
            <a:ext cx="12240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1D6394E-3C1C-9846-880C-AA78624DC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0132" y="6255020"/>
            <a:ext cx="3024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400"/>
              </a:lnSpc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&lt;Document title - footer text&gt;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60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/ 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4418" y="1520825"/>
            <a:ext cx="10001249" cy="4392612"/>
          </a:xfrm>
        </p:spPr>
        <p:txBody>
          <a:bodyPr/>
          <a:lstStyle>
            <a:lvl1pPr marL="0" indent="0">
              <a:spcBef>
                <a:spcPts val="800"/>
              </a:spcBef>
              <a:buNone/>
              <a:tabLst>
                <a:tab pos="6517054" algn="r"/>
              </a:tabLst>
              <a:defRPr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page title	#</a:t>
            </a:r>
          </a:p>
          <a:p>
            <a:pPr lvl="0"/>
            <a:r>
              <a:rPr lang="en-US" dirty="0"/>
              <a:t>Edit page title	#</a:t>
            </a:r>
          </a:p>
          <a:p>
            <a:pPr lvl="0"/>
            <a:r>
              <a:rPr lang="en-US" dirty="0"/>
              <a:t>Edit page title	#</a:t>
            </a:r>
          </a:p>
          <a:p>
            <a:pPr lvl="0"/>
            <a:r>
              <a:rPr lang="en-US" dirty="0"/>
              <a:t>Edit page title	#</a:t>
            </a:r>
          </a:p>
          <a:p>
            <a:pPr lvl="0"/>
            <a:r>
              <a:rPr lang="en-US" dirty="0"/>
              <a:t>Edit page title	#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2176A1AB-311D-2547-95D6-7B8112289A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418" y="408469"/>
            <a:ext cx="10001249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7108C24-5B72-3A44-B49B-5DEC49EAF450}"/>
              </a:ext>
            </a:extLst>
          </p:cNvPr>
          <p:cNvSpPr txBox="1">
            <a:spLocks/>
          </p:cNvSpPr>
          <p:nvPr userDrawn="1"/>
        </p:nvSpPr>
        <p:spPr>
          <a:xfrm>
            <a:off x="624418" y="6255021"/>
            <a:ext cx="12240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C44AFF9-BFFE-FB49-BE41-133AEB96A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70132" y="6255020"/>
            <a:ext cx="3024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400"/>
              </a:lnSpc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&lt;Document title - footer text&gt;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060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B317C8-6EAB-B35E-2F87-C6A0069D2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85391-31A9-73DC-9B02-E11004B8F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C979E-E2F3-A6FB-8163-1821A3776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0BDEE-6D19-4B0C-8C56-68AB06B684D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0BF4-A89D-01D3-F446-32A3FCB3E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5F15A-DD3A-8D58-64F0-10DEC6530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41928-54CD-485B-ACCE-90E04AD793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91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sv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sv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labs.play-with-k8s.com/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Architecture of Kubernetes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36863" y="1828327"/>
            <a:ext cx="4905088" cy="32013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level architecture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Master and components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Nodes and components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3994807" y="1828815"/>
            <a:ext cx="152651" cy="28327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36914" y="2949499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89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High level architecture</a:t>
            </a:r>
          </a:p>
        </p:txBody>
      </p:sp>
      <p:pic>
        <p:nvPicPr>
          <p:cNvPr id="3" name="Graphic 2" descr="Cloud">
            <a:extLst>
              <a:ext uri="{FF2B5EF4-FFF2-40B4-BE49-F238E27FC236}">
                <a16:creationId xmlns:a16="http://schemas.microsoft.com/office/drawing/2014/main" id="{A2762E76-2B07-4A27-B351-D63E933A5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6611" y="1726297"/>
            <a:ext cx="914400" cy="914400"/>
          </a:xfrm>
          <a:prstGeom prst="rect">
            <a:avLst/>
          </a:prstGeom>
        </p:spPr>
      </p:pic>
      <p:pic>
        <p:nvPicPr>
          <p:cNvPr id="5" name="Graphic 4" descr="Database">
            <a:extLst>
              <a:ext uri="{FF2B5EF4-FFF2-40B4-BE49-F238E27FC236}">
                <a16:creationId xmlns:a16="http://schemas.microsoft.com/office/drawing/2014/main" id="{A6597B9D-A531-4AFB-B4F0-7830E53D68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9018" y="1362729"/>
            <a:ext cx="1044540" cy="727135"/>
          </a:xfrm>
          <a:prstGeom prst="rect">
            <a:avLst/>
          </a:prstGeom>
        </p:spPr>
      </p:pic>
      <p:pic>
        <p:nvPicPr>
          <p:cNvPr id="7" name="Graphic 6" descr="Daily calendar">
            <a:extLst>
              <a:ext uri="{FF2B5EF4-FFF2-40B4-BE49-F238E27FC236}">
                <a16:creationId xmlns:a16="http://schemas.microsoft.com/office/drawing/2014/main" id="{69481172-8724-4789-9822-A9AFE5FE35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66344" y="2354192"/>
            <a:ext cx="695211" cy="695211"/>
          </a:xfrm>
          <a:prstGeom prst="rect">
            <a:avLst/>
          </a:prstGeom>
        </p:spPr>
      </p:pic>
      <p:pic>
        <p:nvPicPr>
          <p:cNvPr id="10" name="Graphic 9" descr="Lightning bolt">
            <a:extLst>
              <a:ext uri="{FF2B5EF4-FFF2-40B4-BE49-F238E27FC236}">
                <a16:creationId xmlns:a16="http://schemas.microsoft.com/office/drawing/2014/main" id="{DA201FC3-E889-4846-B438-20E7DF18F9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36090" y="4113316"/>
            <a:ext cx="914400" cy="914400"/>
          </a:xfrm>
          <a:prstGeom prst="rect">
            <a:avLst/>
          </a:prstGeom>
        </p:spPr>
      </p:pic>
      <p:pic>
        <p:nvPicPr>
          <p:cNvPr id="13" name="Graphic 12" descr="Bar chart">
            <a:extLst>
              <a:ext uri="{FF2B5EF4-FFF2-40B4-BE49-F238E27FC236}">
                <a16:creationId xmlns:a16="http://schemas.microsoft.com/office/drawing/2014/main" id="{512AE2D5-8549-4BB3-BFF0-FECAA46B94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83437" y="5230707"/>
            <a:ext cx="914400" cy="914400"/>
          </a:xfrm>
          <a:prstGeom prst="rect">
            <a:avLst/>
          </a:prstGeom>
        </p:spPr>
      </p:pic>
      <p:pic>
        <p:nvPicPr>
          <p:cNvPr id="16" name="Graphic 15" descr="User network">
            <a:extLst>
              <a:ext uri="{FF2B5EF4-FFF2-40B4-BE49-F238E27FC236}">
                <a16:creationId xmlns:a16="http://schemas.microsoft.com/office/drawing/2014/main" id="{876A5E97-D96F-4A2A-A244-C58510952A3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44103" y="5205868"/>
            <a:ext cx="914400" cy="914400"/>
          </a:xfrm>
          <a:prstGeom prst="rect">
            <a:avLst/>
          </a:prstGeom>
        </p:spPr>
      </p:pic>
      <p:pic>
        <p:nvPicPr>
          <p:cNvPr id="18" name="Graphic 17" descr="Box">
            <a:extLst>
              <a:ext uri="{FF2B5EF4-FFF2-40B4-BE49-F238E27FC236}">
                <a16:creationId xmlns:a16="http://schemas.microsoft.com/office/drawing/2014/main" id="{78B6BB40-FA49-41E1-B358-09FE2D7ABE2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51011" y="4113316"/>
            <a:ext cx="914400" cy="914400"/>
          </a:xfrm>
          <a:prstGeom prst="rect">
            <a:avLst/>
          </a:prstGeom>
        </p:spPr>
      </p:pic>
      <p:pic>
        <p:nvPicPr>
          <p:cNvPr id="20" name="Graphic 19" descr="Briefcase">
            <a:extLst>
              <a:ext uri="{FF2B5EF4-FFF2-40B4-BE49-F238E27FC236}">
                <a16:creationId xmlns:a16="http://schemas.microsoft.com/office/drawing/2014/main" id="{7F413991-58D9-4A31-98CF-BF75880AD39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04088" y="2406721"/>
            <a:ext cx="811474" cy="72713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AD6B1F8-9CAB-4CAA-9889-ED62B9B48AE3}"/>
              </a:ext>
            </a:extLst>
          </p:cNvPr>
          <p:cNvSpPr txBox="1"/>
          <p:nvPr/>
        </p:nvSpPr>
        <p:spPr>
          <a:xfrm>
            <a:off x="4079334" y="2486152"/>
            <a:ext cx="1173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 Server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B222C5-0B7E-4C16-8170-E513A425D7B2}"/>
              </a:ext>
            </a:extLst>
          </p:cNvPr>
          <p:cNvSpPr txBox="1"/>
          <p:nvPr/>
        </p:nvSpPr>
        <p:spPr>
          <a:xfrm>
            <a:off x="6592689" y="1527660"/>
            <a:ext cx="595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etcd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1CE1C8-CA10-41F1-B9C6-B762796C24C1}"/>
              </a:ext>
            </a:extLst>
          </p:cNvPr>
          <p:cNvSpPr txBox="1"/>
          <p:nvPr/>
        </p:nvSpPr>
        <p:spPr>
          <a:xfrm>
            <a:off x="5674460" y="3078499"/>
            <a:ext cx="1231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Controllers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B1B285-D502-41C5-AABB-F717D5A93087}"/>
              </a:ext>
            </a:extLst>
          </p:cNvPr>
          <p:cNvSpPr txBox="1"/>
          <p:nvPr/>
        </p:nvSpPr>
        <p:spPr>
          <a:xfrm>
            <a:off x="8438682" y="2517131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Scheduler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659B63-D3B7-4B4D-A8AD-78F80EAA9C8C}"/>
              </a:ext>
            </a:extLst>
          </p:cNvPr>
          <p:cNvSpPr txBox="1"/>
          <p:nvPr/>
        </p:nvSpPr>
        <p:spPr>
          <a:xfrm>
            <a:off x="4794621" y="4916950"/>
            <a:ext cx="1938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Container runtime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717963-7339-4B93-9C9F-A3EB0BFEA7D3}"/>
              </a:ext>
            </a:extLst>
          </p:cNvPr>
          <p:cNvSpPr txBox="1"/>
          <p:nvPr/>
        </p:nvSpPr>
        <p:spPr>
          <a:xfrm>
            <a:off x="8113949" y="4783106"/>
            <a:ext cx="921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Kubelet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29C873-2200-47A6-8B28-23DF7ACFF8CB}"/>
              </a:ext>
            </a:extLst>
          </p:cNvPr>
          <p:cNvSpPr txBox="1"/>
          <p:nvPr/>
        </p:nvSpPr>
        <p:spPr>
          <a:xfrm>
            <a:off x="5137935" y="6109371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cAdvisor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50270B-8B28-4DD9-B7DB-6D6F3CDDCEE8}"/>
              </a:ext>
            </a:extLst>
          </p:cNvPr>
          <p:cNvSpPr txBox="1"/>
          <p:nvPr/>
        </p:nvSpPr>
        <p:spPr>
          <a:xfrm>
            <a:off x="7636090" y="6089528"/>
            <a:ext cx="1605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proxy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EE994B-A9AD-48C5-A15C-9538397730D4}"/>
              </a:ext>
            </a:extLst>
          </p:cNvPr>
          <p:cNvCxnSpPr>
            <a:stCxn id="10" idx="1"/>
            <a:endCxn id="18" idx="3"/>
          </p:cNvCxnSpPr>
          <p:nvPr/>
        </p:nvCxnSpPr>
        <p:spPr>
          <a:xfrm flipH="1">
            <a:off x="6065411" y="4570516"/>
            <a:ext cx="15706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3DACA10-2A47-4EBB-A477-0382FA5AF24E}"/>
              </a:ext>
            </a:extLst>
          </p:cNvPr>
          <p:cNvCxnSpPr>
            <a:stCxn id="20" idx="3"/>
          </p:cNvCxnSpPr>
          <p:nvPr/>
        </p:nvCxnSpPr>
        <p:spPr>
          <a:xfrm flipV="1">
            <a:off x="6615562" y="2770288"/>
            <a:ext cx="11507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353A444-ACAB-407E-B984-0FF552F71ECD}"/>
              </a:ext>
            </a:extLst>
          </p:cNvPr>
          <p:cNvCxnSpPr>
            <a:stCxn id="3" idx="3"/>
          </p:cNvCxnSpPr>
          <p:nvPr/>
        </p:nvCxnSpPr>
        <p:spPr>
          <a:xfrm flipV="1">
            <a:off x="5151011" y="1896992"/>
            <a:ext cx="523449" cy="286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 43">
            <a:extLst>
              <a:ext uri="{FF2B5EF4-FFF2-40B4-BE49-F238E27FC236}">
                <a16:creationId xmlns:a16="http://schemas.microsoft.com/office/drawing/2014/main" id="{D72AD7FB-4856-40E9-A0C6-F8A6EE8377EE}"/>
              </a:ext>
            </a:extLst>
          </p:cNvPr>
          <p:cNvSpPr/>
          <p:nvPr/>
        </p:nvSpPr>
        <p:spPr>
          <a:xfrm>
            <a:off x="7851854" y="2855484"/>
            <a:ext cx="1040326" cy="1582237"/>
          </a:xfrm>
          <a:prstGeom prst="arc">
            <a:avLst>
              <a:gd name="adj1" fmla="val 15789936"/>
              <a:gd name="adj2" fmla="val 57317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4006B44-F9E2-454E-B013-1BA33E33F501}"/>
              </a:ext>
            </a:extLst>
          </p:cNvPr>
          <p:cNvSpPr/>
          <p:nvPr/>
        </p:nvSpPr>
        <p:spPr>
          <a:xfrm>
            <a:off x="3503488" y="1099335"/>
            <a:ext cx="6729573" cy="255678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8DE958E-2D67-49BC-98B4-0754C4B60E55}"/>
              </a:ext>
            </a:extLst>
          </p:cNvPr>
          <p:cNvSpPr/>
          <p:nvPr/>
        </p:nvSpPr>
        <p:spPr>
          <a:xfrm>
            <a:off x="3485963" y="4003770"/>
            <a:ext cx="6729573" cy="255678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627D6F2-7F61-480B-A877-33A7758A5E4C}"/>
              </a:ext>
            </a:extLst>
          </p:cNvPr>
          <p:cNvSpPr/>
          <p:nvPr/>
        </p:nvSpPr>
        <p:spPr>
          <a:xfrm>
            <a:off x="9113178" y="3873357"/>
            <a:ext cx="673604" cy="5643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9" name="Graphic 48" descr="Laptop">
            <a:extLst>
              <a:ext uri="{FF2B5EF4-FFF2-40B4-BE49-F238E27FC236}">
                <a16:creationId xmlns:a16="http://schemas.microsoft.com/office/drawing/2014/main" id="{4DF343C7-C74B-406B-99DE-871495E2997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596466" y="3202656"/>
            <a:ext cx="914400" cy="914400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676F024-37D9-4B25-B682-78BE66BAC76C}"/>
              </a:ext>
            </a:extLst>
          </p:cNvPr>
          <p:cNvCxnSpPr>
            <a:cxnSpLocks/>
          </p:cNvCxnSpPr>
          <p:nvPr/>
        </p:nvCxnSpPr>
        <p:spPr>
          <a:xfrm flipV="1">
            <a:off x="2538516" y="2770288"/>
            <a:ext cx="1355390" cy="650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251ED7E-8527-40A8-B1D2-506A50A81199}"/>
              </a:ext>
            </a:extLst>
          </p:cNvPr>
          <p:cNvSpPr txBox="1"/>
          <p:nvPr/>
        </p:nvSpPr>
        <p:spPr>
          <a:xfrm>
            <a:off x="1568816" y="4065508"/>
            <a:ext cx="887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kubectl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8A87BC-571C-49F6-B688-0DC5DC5D0BC7}"/>
              </a:ext>
            </a:extLst>
          </p:cNvPr>
          <p:cNvSpPr txBox="1"/>
          <p:nvPr/>
        </p:nvSpPr>
        <p:spPr>
          <a:xfrm>
            <a:off x="8548311" y="1365488"/>
            <a:ext cx="109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Master</a:t>
            </a:r>
            <a:endParaRPr lang="en-GB" sz="2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70F5C8-112A-45FA-832D-344D20FCB5BE}"/>
              </a:ext>
            </a:extLst>
          </p:cNvPr>
          <p:cNvSpPr txBox="1"/>
          <p:nvPr/>
        </p:nvSpPr>
        <p:spPr>
          <a:xfrm>
            <a:off x="3605081" y="4080817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endParaRPr lang="en-GB" sz="2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Kubernetes Master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723138" y="1071994"/>
            <a:ext cx="10169738" cy="4917840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Also called Control Plane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Ideal to design an HA setup – odd number of masters (1/3/5)</a:t>
            </a:r>
          </a:p>
          <a:p>
            <a:pPr lvl="1">
              <a:lnSpc>
                <a:spcPct val="150000"/>
              </a:lnSpc>
            </a:pPr>
            <a:r>
              <a:rPr lang="en-US" sz="18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Active passive model – on failure new leader is elected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Components of a master</a:t>
            </a:r>
          </a:p>
          <a:p>
            <a:pPr lvl="1">
              <a:lnSpc>
                <a:spcPct val="150000"/>
              </a:lnSpc>
            </a:pPr>
            <a:r>
              <a:rPr lang="en-US" sz="1833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Kube-apiserver</a:t>
            </a:r>
            <a:r>
              <a:rPr lang="en-US" sz="18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Front ending; supports REST; consumes the manifest file</a:t>
            </a:r>
          </a:p>
          <a:p>
            <a:pPr lvl="1">
              <a:lnSpc>
                <a:spcPct val="150000"/>
              </a:lnSpc>
            </a:pPr>
            <a:r>
              <a:rPr lang="en-US" sz="1833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 store</a:t>
            </a:r>
            <a:r>
              <a:rPr lang="en-US" sz="18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Persistent store of cluster state and configuration; uses </a:t>
            </a:r>
            <a:r>
              <a:rPr lang="en-US" sz="1833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etcd</a:t>
            </a:r>
            <a:r>
              <a:rPr lang="en-US" sz="18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source of truth</a:t>
            </a:r>
          </a:p>
          <a:p>
            <a:pPr lvl="1">
              <a:lnSpc>
                <a:spcPct val="150000"/>
              </a:lnSpc>
            </a:pPr>
            <a:r>
              <a:rPr lang="en-US" sz="1833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</a:t>
            </a:r>
            <a:r>
              <a:rPr lang="en-US" sz="1833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-controller-manager</a:t>
            </a:r>
            <a:r>
              <a:rPr lang="en-US" sz="18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controller of controllers (node controller, endpoint controller, namespace controller </a:t>
            </a:r>
            <a:r>
              <a:rPr lang="en-US" sz="1833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18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 Watches for changes and ensures desired state is maintained</a:t>
            </a:r>
          </a:p>
          <a:p>
            <a:pPr lvl="1">
              <a:lnSpc>
                <a:spcPct val="150000"/>
              </a:lnSpc>
            </a:pPr>
            <a:r>
              <a:rPr lang="en-US" sz="1833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</a:t>
            </a:r>
            <a:r>
              <a:rPr lang="en-US" sz="1833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-scheduler</a:t>
            </a:r>
            <a:r>
              <a:rPr lang="en-US" sz="18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Watches </a:t>
            </a:r>
            <a:r>
              <a:rPr lang="en-US" sz="1833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sz="18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-server for new PODs; assigns work to nodes; handles affinity, resources, constraints</a:t>
            </a:r>
          </a:p>
        </p:txBody>
      </p:sp>
    </p:spTree>
    <p:extLst>
      <p:ext uri="{BB962C8B-B14F-4D97-AF65-F5344CB8AC3E}">
        <p14:creationId xmlns:p14="http://schemas.microsoft.com/office/powerpoint/2010/main" val="365227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Kubernetes Node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A7D1A0-612B-414C-88BE-05766E5D40BD}"/>
              </a:ext>
            </a:extLst>
          </p:cNvPr>
          <p:cNvSpPr/>
          <p:nvPr/>
        </p:nvSpPr>
        <p:spPr>
          <a:xfrm>
            <a:off x="624418" y="1494348"/>
            <a:ext cx="1923573" cy="648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Kubelet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E3B9D-59F8-4D36-A0A6-59BCA3D7974B}"/>
              </a:ext>
            </a:extLst>
          </p:cNvPr>
          <p:cNvSpPr/>
          <p:nvPr/>
        </p:nvSpPr>
        <p:spPr>
          <a:xfrm>
            <a:off x="624419" y="2987192"/>
            <a:ext cx="1923573" cy="641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Container runtime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3068D-D9CE-4764-B2C3-019A7B13B92A}"/>
              </a:ext>
            </a:extLst>
          </p:cNvPr>
          <p:cNvSpPr/>
          <p:nvPr/>
        </p:nvSpPr>
        <p:spPr>
          <a:xfrm>
            <a:off x="624418" y="4259781"/>
            <a:ext cx="1923573" cy="648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Kube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-proxy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9D355B-3CFF-4D1E-BEAA-1B4BDDF1F85F}"/>
              </a:ext>
            </a:extLst>
          </p:cNvPr>
          <p:cNvSpPr/>
          <p:nvPr/>
        </p:nvSpPr>
        <p:spPr>
          <a:xfrm>
            <a:off x="624413" y="5415006"/>
            <a:ext cx="1923573" cy="641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cAdvisor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46238-995C-4E35-AF30-CEAFDB355A2B}"/>
              </a:ext>
            </a:extLst>
          </p:cNvPr>
          <p:cNvSpPr txBox="1"/>
          <p:nvPr/>
        </p:nvSpPr>
        <p:spPr>
          <a:xfrm>
            <a:off x="2958957" y="1156806"/>
            <a:ext cx="75206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Main agent for k8s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Registers the node with the k8s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Takes assignments from master, reports 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Instantiates PODs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Exposes end point on port 10255 for inspection (/spec, /</a:t>
            </a:r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healthz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, /pods 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730B4D-255F-4AA6-9C78-60EB9230422C}"/>
              </a:ext>
            </a:extLst>
          </p:cNvPr>
          <p:cNvSpPr txBox="1"/>
          <p:nvPr/>
        </p:nvSpPr>
        <p:spPr>
          <a:xfrm>
            <a:off x="2958961" y="2769437"/>
            <a:ext cx="75206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Does container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Pulls images from repositories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Start / Stop containers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Pluggable – using container runtime interface –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containerd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CRI-O,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podman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FBC9F-01D3-419F-A97A-021A3CC1AE22}"/>
              </a:ext>
            </a:extLst>
          </p:cNvPr>
          <p:cNvSpPr txBox="1"/>
          <p:nvPr/>
        </p:nvSpPr>
        <p:spPr>
          <a:xfrm>
            <a:off x="2958961" y="4135847"/>
            <a:ext cx="7520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Handles networking for k8s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Assigns IP address to the PODs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Load balancing of PODS behind services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E369F6-CD0E-4144-8FDC-79E47C57D308}"/>
              </a:ext>
            </a:extLst>
          </p:cNvPr>
          <p:cNvSpPr txBox="1"/>
          <p:nvPr/>
        </p:nvSpPr>
        <p:spPr>
          <a:xfrm>
            <a:off x="2958957" y="5531917"/>
            <a:ext cx="7520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Agent that monitors performance and resource usage of containers on the node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94BDE4-3A71-4651-92C0-EF3D149ACE64}"/>
              </a:ext>
            </a:extLst>
          </p:cNvPr>
          <p:cNvCxnSpPr>
            <a:cxnSpLocks/>
          </p:cNvCxnSpPr>
          <p:nvPr/>
        </p:nvCxnSpPr>
        <p:spPr>
          <a:xfrm>
            <a:off x="3098042" y="2606722"/>
            <a:ext cx="865268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E63C8E-F1B7-4ECB-87FA-3FC0D6F8D732}"/>
              </a:ext>
            </a:extLst>
          </p:cNvPr>
          <p:cNvCxnSpPr>
            <a:cxnSpLocks/>
          </p:cNvCxnSpPr>
          <p:nvPr/>
        </p:nvCxnSpPr>
        <p:spPr>
          <a:xfrm>
            <a:off x="3098042" y="4014716"/>
            <a:ext cx="865268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E92905-8A84-46F9-BB11-D221629CF372}"/>
              </a:ext>
            </a:extLst>
          </p:cNvPr>
          <p:cNvCxnSpPr>
            <a:cxnSpLocks/>
          </p:cNvCxnSpPr>
          <p:nvPr/>
        </p:nvCxnSpPr>
        <p:spPr>
          <a:xfrm>
            <a:off x="3053434" y="5161128"/>
            <a:ext cx="865268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638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Kubernetes Objects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06515" y="901800"/>
            <a:ext cx="10169738" cy="102976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Objects (e.g. PODs, services, replica sets etc.) help define the Kubernetes environment and work together to accomplish application tasks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8A91CDC-5B4B-43B5-AFB8-CF9188BC4231}"/>
              </a:ext>
            </a:extLst>
          </p:cNvPr>
          <p:cNvSpPr/>
          <p:nvPr/>
        </p:nvSpPr>
        <p:spPr>
          <a:xfrm>
            <a:off x="624418" y="2047164"/>
            <a:ext cx="3483558" cy="44023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</a:p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Pod, Service …</a:t>
            </a:r>
          </a:p>
          <a:p>
            <a:endParaRPr lang="en-US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</a:p>
          <a:p>
            <a:r>
              <a:rPr lang="en-US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</a:p>
          <a:p>
            <a:r>
              <a:rPr lang="en-US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</a:p>
          <a:p>
            <a:r>
              <a:rPr lang="en-US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Annotations</a:t>
            </a:r>
          </a:p>
          <a:p>
            <a:endParaRPr lang="en-US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</a:p>
          <a:p>
            <a:r>
              <a:rPr lang="en-US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 desired state</a:t>
            </a:r>
          </a:p>
          <a:p>
            <a:endParaRPr lang="en-US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</a:p>
          <a:p>
            <a:r>
              <a:rPr lang="en-US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Kubernetes’ actual state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C7581E-B20C-4742-B3F7-AFF5A66B8504}"/>
              </a:ext>
            </a:extLst>
          </p:cNvPr>
          <p:cNvSpPr/>
          <p:nvPr/>
        </p:nvSpPr>
        <p:spPr>
          <a:xfrm>
            <a:off x="7192695" y="1893827"/>
            <a:ext cx="3483558" cy="47090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endParaRPr lang="en-US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nginx-pod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value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annotations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otherkey: othervalue</a:t>
            </a:r>
          </a:p>
          <a:p>
            <a:endParaRPr lang="en-US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containers: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-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nginx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nginx:1.7.9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ports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-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containerPort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80</a:t>
            </a:r>
          </a:p>
        </p:txBody>
      </p:sp>
      <p:sp>
        <p:nvSpPr>
          <p:cNvPr id="3" name="Callout: Line with Accent Bar 2">
            <a:extLst>
              <a:ext uri="{FF2B5EF4-FFF2-40B4-BE49-F238E27FC236}">
                <a16:creationId xmlns:a16="http://schemas.microsoft.com/office/drawing/2014/main" id="{D43E84F9-0EFA-4010-BADB-478290539495}"/>
              </a:ext>
            </a:extLst>
          </p:cNvPr>
          <p:cNvSpPr/>
          <p:nvPr/>
        </p:nvSpPr>
        <p:spPr>
          <a:xfrm>
            <a:off x="5213444" y="2185149"/>
            <a:ext cx="1278341" cy="612648"/>
          </a:xfrm>
          <a:prstGeom prst="accentCallout1">
            <a:avLst>
              <a:gd name="adj1" fmla="val 52165"/>
              <a:gd name="adj2" fmla="val 117040"/>
              <a:gd name="adj3" fmla="val 101361"/>
              <a:gd name="adj4" fmla="val 14355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 of a POD object</a:t>
            </a:r>
            <a:endParaRPr lang="en-GB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89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28469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Kubernetes Object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6FC1B-BACE-4324-BDE0-1D1D023DE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446" y="768469"/>
            <a:ext cx="5943600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89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Assignment 1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5929" y="1306749"/>
            <a:ext cx="10169738" cy="10297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Lab Guide titled – “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 Guide - Setup &amp; Command Reference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the lab setup as instructed in the document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Lab Guide titled – “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 Guide – Config &amp; Cluster Information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Explore your environment using the instructions in the document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324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PODS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36863" y="1828327"/>
            <a:ext cx="4905088" cy="3201347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 of PODs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 lifecycle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Advanced configurations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Liveness and Readiness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 context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Multi-container POD use cases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Namespaces, labels, selectors and annotations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3994807" y="1828815"/>
            <a:ext cx="126817" cy="32008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36914" y="2949499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397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Overview of PODs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0182" y="1215740"/>
            <a:ext cx="11013937" cy="49178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Atomic building block of what you deploy on K8S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Ring fenced environment for running containers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Encapsulates group of containers, adds storage resources, networking and rules for running the containers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containers in a POD use a shared N/W stack, kernel namespace, memory, volume, IP address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 is also the unit of scaling workload – you add more PODs to a cluster and not more containers to a POD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PODs cannot be recovered once lost due to failure ; only new ones created in their place</a:t>
            </a:r>
          </a:p>
          <a:p>
            <a:pPr>
              <a:lnSpc>
                <a:spcPct val="150000"/>
              </a:lnSpc>
            </a:pPr>
            <a:endParaRPr lang="en-US" sz="1833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69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POD Lifecycle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624418" y="935383"/>
            <a:ext cx="11013937" cy="1166371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PODs current stage is tracked in a </a:t>
            </a:r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field (</a:t>
            </a:r>
            <a:r>
              <a:rPr lang="en-US" sz="21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PodStatus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object). Status field has a sub field called </a:t>
            </a:r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Phases of a POD:</a:t>
            </a:r>
          </a:p>
          <a:p>
            <a:pPr>
              <a:lnSpc>
                <a:spcPct val="150000"/>
              </a:lnSpc>
            </a:pPr>
            <a:endParaRPr lang="en-US" sz="1833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C0606435-295A-49B6-AD5E-5482E323F133}"/>
              </a:ext>
            </a:extLst>
          </p:cNvPr>
          <p:cNvSpPr/>
          <p:nvPr/>
        </p:nvSpPr>
        <p:spPr>
          <a:xfrm>
            <a:off x="996287" y="2386775"/>
            <a:ext cx="1463689" cy="11663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Pending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8B2FA67-9426-4059-8644-B1246375164F}"/>
              </a:ext>
            </a:extLst>
          </p:cNvPr>
          <p:cNvSpPr/>
          <p:nvPr/>
        </p:nvSpPr>
        <p:spPr>
          <a:xfrm>
            <a:off x="4673187" y="2367872"/>
            <a:ext cx="1463689" cy="11663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Running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DBF8862-9A30-47BE-9351-0FB9449E4B38}"/>
              </a:ext>
            </a:extLst>
          </p:cNvPr>
          <p:cNvSpPr/>
          <p:nvPr/>
        </p:nvSpPr>
        <p:spPr>
          <a:xfrm>
            <a:off x="8320255" y="2367871"/>
            <a:ext cx="1650794" cy="11663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Succeeded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14A981E-D4BB-4ED0-86B0-C8F581106A68}"/>
              </a:ext>
            </a:extLst>
          </p:cNvPr>
          <p:cNvSpPr/>
          <p:nvPr/>
        </p:nvSpPr>
        <p:spPr>
          <a:xfrm>
            <a:off x="2459976" y="4671380"/>
            <a:ext cx="1463689" cy="11663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Failed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D937A64-EFF7-40D2-8E0F-E81A229ABE40}"/>
              </a:ext>
            </a:extLst>
          </p:cNvPr>
          <p:cNvSpPr/>
          <p:nvPr/>
        </p:nvSpPr>
        <p:spPr>
          <a:xfrm>
            <a:off x="6786971" y="4649209"/>
            <a:ext cx="1463689" cy="11663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Unknown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7D0485-CCCA-44EC-965D-5D4A456F5443}"/>
              </a:ext>
            </a:extLst>
          </p:cNvPr>
          <p:cNvSpPr txBox="1"/>
          <p:nvPr/>
        </p:nvSpPr>
        <p:spPr>
          <a:xfrm>
            <a:off x="259307" y="3664181"/>
            <a:ext cx="3452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POD validated by API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Entry created in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etcd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Containers yet to be created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1B3862-8537-4086-BB7A-E61E8D2D65A1}"/>
              </a:ext>
            </a:extLst>
          </p:cNvPr>
          <p:cNvSpPr txBox="1"/>
          <p:nvPr/>
        </p:nvSpPr>
        <p:spPr>
          <a:xfrm>
            <a:off x="4065932" y="3664181"/>
            <a:ext cx="3044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Containers created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POD scheduled on a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Containers running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F947E9-CC39-4E49-826A-026A8D1B7910}"/>
              </a:ext>
            </a:extLst>
          </p:cNvPr>
          <p:cNvSpPr txBox="1"/>
          <p:nvPr/>
        </p:nvSpPr>
        <p:spPr>
          <a:xfrm>
            <a:off x="7623376" y="3664181"/>
            <a:ext cx="3044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Every container has finished executing without errors / failures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2CA384-5408-46E7-9029-FBB7B3441B8E}"/>
              </a:ext>
            </a:extLst>
          </p:cNvPr>
          <p:cNvSpPr txBox="1"/>
          <p:nvPr/>
        </p:nvSpPr>
        <p:spPr>
          <a:xfrm>
            <a:off x="1766350" y="5737740"/>
            <a:ext cx="3044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Containers finished executing but some exited with a failure code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008C23-2C8C-4302-AE37-528957D84DF2}"/>
              </a:ext>
            </a:extLst>
          </p:cNvPr>
          <p:cNvSpPr txBox="1"/>
          <p:nvPr/>
        </p:nvSpPr>
        <p:spPr>
          <a:xfrm>
            <a:off x="6191630" y="5815580"/>
            <a:ext cx="3044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POD status could not be obtained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447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Advanced configuration – custom command and args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732223" y="1233547"/>
            <a:ext cx="11013937" cy="11663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field in the YAML spec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 replaces </a:t>
            </a:r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ENTRYPOINT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args replaces </a:t>
            </a:r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CMD</a:t>
            </a:r>
            <a:endParaRPr lang="en-US" sz="1833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5AFC81-4298-4ED9-8FBE-B31A4587E1EF}"/>
              </a:ext>
            </a:extLst>
          </p:cNvPr>
          <p:cNvSpPr/>
          <p:nvPr/>
        </p:nvSpPr>
        <p:spPr>
          <a:xfrm>
            <a:off x="2612441" y="2731665"/>
            <a:ext cx="5330555" cy="33626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custom-command-pod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containers: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-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custom-container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alpine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command: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[“/bin/sh”]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args: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[“-c”, ”while true; do date; sleep 5; done”]</a:t>
            </a:r>
          </a:p>
        </p:txBody>
      </p:sp>
    </p:spTree>
    <p:extLst>
      <p:ext uri="{BB962C8B-B14F-4D97-AF65-F5344CB8AC3E}">
        <p14:creationId xmlns:p14="http://schemas.microsoft.com/office/powerpoint/2010/main" val="2574403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Advanced configuration – Environment variables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732223" y="1233547"/>
            <a:ext cx="11013937" cy="70443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env one can inject configuration settings into containers</a:t>
            </a:r>
            <a:endParaRPr lang="en-US" sz="1833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5AFC81-4298-4ED9-8FBE-B31A4587E1EF}"/>
              </a:ext>
            </a:extLst>
          </p:cNvPr>
          <p:cNvSpPr/>
          <p:nvPr/>
        </p:nvSpPr>
        <p:spPr>
          <a:xfrm>
            <a:off x="2612441" y="2468689"/>
            <a:ext cx="5330555" cy="33626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env-var-pod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containers: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-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custom-container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nginx:1.7.9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env: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- name: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CONNECTION_STRING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“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mongodb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://localhost:27017”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893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Container probes – Readiness and Liveness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855090"/>
            <a:ext cx="11013937" cy="951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Probes are small processes that run periodically. Result is </a:t>
            </a:r>
            <a:r>
              <a:rPr lang="en-US" sz="1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Failed</a:t>
            </a: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1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Unknown.   </a:t>
            </a: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be implemented using HTTP / TCP Sockets or custom commands</a:t>
            </a:r>
            <a:endParaRPr lang="en-US" sz="18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5AFC81-4298-4ED9-8FBE-B31A4587E1EF}"/>
              </a:ext>
            </a:extLst>
          </p:cNvPr>
          <p:cNvSpPr/>
          <p:nvPr/>
        </p:nvSpPr>
        <p:spPr>
          <a:xfrm>
            <a:off x="1007673" y="2561937"/>
            <a:ext cx="3839750" cy="41827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readiness-pod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containers: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-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myserver</a:t>
            </a:r>
            <a:endParaRPr lang="en-US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nginx:1.7.9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readinessProbe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initialDelaySeconds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5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failureThreshold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1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httpGet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path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/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8001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95308F-D6D1-4D19-864C-BA1112EB40A0}"/>
              </a:ext>
            </a:extLst>
          </p:cNvPr>
          <p:cNvSpPr/>
          <p:nvPr/>
        </p:nvSpPr>
        <p:spPr>
          <a:xfrm>
            <a:off x="6521698" y="2561937"/>
            <a:ext cx="4205141" cy="39553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readiness-pod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containers: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-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myserver</a:t>
            </a:r>
            <a:endParaRPr lang="en-US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nginx:1.7.9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livenessProbe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initialDelaySeconds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60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periodSeconds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5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exec: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[“ls”, “index.html”]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23FBE-A60B-4738-B3CB-906C117731F0}"/>
              </a:ext>
            </a:extLst>
          </p:cNvPr>
          <p:cNvSpPr txBox="1"/>
          <p:nvPr/>
        </p:nvSpPr>
        <p:spPr>
          <a:xfrm>
            <a:off x="1007673" y="1806766"/>
            <a:ext cx="4610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Readiness probe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is used to indicate a container is ready to accept traffic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9A757A-21A5-43C0-ADCF-2CF92FF52C3D}"/>
              </a:ext>
            </a:extLst>
          </p:cNvPr>
          <p:cNvSpPr txBox="1"/>
          <p:nvPr/>
        </p:nvSpPr>
        <p:spPr>
          <a:xfrm>
            <a:off x="6714786" y="1775987"/>
            <a:ext cx="4610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Liveness probe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is used to determine if a container is running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313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t" anchorCtr="0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Multi container </a:t>
            </a:r>
            <a:r>
              <a:rPr lang="en-US" sz="285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855090"/>
            <a:ext cx="11013937" cy="22957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container PODs are easier to build, deploy and debug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Combine multiple containers into a single POD if:</a:t>
            </a:r>
          </a:p>
          <a:p>
            <a:pPr lvl="1">
              <a:lnSpc>
                <a:spcPct val="100000"/>
              </a:lnSpc>
            </a:pPr>
            <a:r>
              <a:rPr lang="en-US" sz="15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the containers have the same life-</a:t>
            </a:r>
            <a:r>
              <a:rPr lang="en-US" sz="1533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cyce</a:t>
            </a:r>
            <a:endParaRPr lang="en-US" sz="1533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15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the containers share filesystem resources</a:t>
            </a:r>
          </a:p>
          <a:p>
            <a:pPr lvl="1">
              <a:lnSpc>
                <a:spcPct val="100000"/>
              </a:lnSpc>
            </a:pPr>
            <a:r>
              <a:rPr lang="en-US" sz="15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the containers must run on the same node</a:t>
            </a:r>
          </a:p>
          <a:p>
            <a:pPr lvl="1">
              <a:lnSpc>
                <a:spcPct val="100000"/>
              </a:lnSpc>
            </a:pPr>
            <a:r>
              <a:rPr lang="en-US" sz="15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want simpler communication between containers (localhost / semaphores / shared memory / shared volumes)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 popular patterns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DBA5200-391E-4527-A5BA-2EFF421BF779}"/>
              </a:ext>
            </a:extLst>
          </p:cNvPr>
          <p:cNvSpPr/>
          <p:nvPr/>
        </p:nvSpPr>
        <p:spPr>
          <a:xfrm>
            <a:off x="589031" y="3549978"/>
            <a:ext cx="3150824" cy="189428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Shared file system</a:t>
            </a:r>
            <a:endParaRPr lang="en-GB" sz="1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756FA7-DB8D-40B3-BB41-AC3ADCBF96DE}"/>
              </a:ext>
            </a:extLst>
          </p:cNvPr>
          <p:cNvSpPr/>
          <p:nvPr/>
        </p:nvSpPr>
        <p:spPr>
          <a:xfrm>
            <a:off x="813040" y="4417060"/>
            <a:ext cx="1340385" cy="8735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 container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server writes to log files</a:t>
            </a:r>
            <a:endParaRPr lang="en-GB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6F9A47A-BC2F-417B-BC1B-2C9D7289AEDA}"/>
              </a:ext>
            </a:extLst>
          </p:cNvPr>
          <p:cNvSpPr/>
          <p:nvPr/>
        </p:nvSpPr>
        <p:spPr>
          <a:xfrm>
            <a:off x="2261534" y="4417060"/>
            <a:ext cx="1340385" cy="8735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Sidecar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Sends log files to central bucket</a:t>
            </a:r>
            <a:endParaRPr lang="en-GB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A97A5C-D26D-4A97-9758-0A25504DBD51}"/>
              </a:ext>
            </a:extLst>
          </p:cNvPr>
          <p:cNvSpPr/>
          <p:nvPr/>
        </p:nvSpPr>
        <p:spPr>
          <a:xfrm>
            <a:off x="4174796" y="3549978"/>
            <a:ext cx="3150824" cy="189428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pPr algn="ctr"/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Shared file system</a:t>
            </a:r>
            <a:endParaRPr lang="en-GB" sz="1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F9B0B5E-6999-4634-A440-966079BDB648}"/>
              </a:ext>
            </a:extLst>
          </p:cNvPr>
          <p:cNvSpPr/>
          <p:nvPr/>
        </p:nvSpPr>
        <p:spPr>
          <a:xfrm>
            <a:off x="4398805" y="4395692"/>
            <a:ext cx="1340385" cy="8735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 container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Writes complex monitoring o/p</a:t>
            </a:r>
            <a:endParaRPr lang="en-GB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BBDA544-A082-4CC5-B611-51A81A50EDB5}"/>
              </a:ext>
            </a:extLst>
          </p:cNvPr>
          <p:cNvSpPr/>
          <p:nvPr/>
        </p:nvSpPr>
        <p:spPr>
          <a:xfrm>
            <a:off x="5847299" y="4395692"/>
            <a:ext cx="1340385" cy="8735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Adapter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Simplifies o/p for external service</a:t>
            </a:r>
            <a:endParaRPr lang="en-GB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4512758-35CF-434F-88F6-A6662329CBEB}"/>
              </a:ext>
            </a:extLst>
          </p:cNvPr>
          <p:cNvSpPr/>
          <p:nvPr/>
        </p:nvSpPr>
        <p:spPr>
          <a:xfrm>
            <a:off x="7856574" y="3528610"/>
            <a:ext cx="3150824" cy="189428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627303-D0FF-4D4A-B83A-661110C5E912}"/>
              </a:ext>
            </a:extLst>
          </p:cNvPr>
          <p:cNvSpPr/>
          <p:nvPr/>
        </p:nvSpPr>
        <p:spPr>
          <a:xfrm>
            <a:off x="8080583" y="4395692"/>
            <a:ext cx="1340385" cy="8735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 container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Needs a DB connection</a:t>
            </a:r>
            <a:endParaRPr lang="en-GB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58ABB17-34CB-4D70-A5E2-3239BF1C1D18}"/>
              </a:ext>
            </a:extLst>
          </p:cNvPr>
          <p:cNvSpPr/>
          <p:nvPr/>
        </p:nvSpPr>
        <p:spPr>
          <a:xfrm>
            <a:off x="9529077" y="4395692"/>
            <a:ext cx="1340385" cy="8735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Ambassador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Proxies DB connections</a:t>
            </a:r>
            <a:endParaRPr lang="en-GB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5C1DF6-D3E4-4707-85BF-0228664FB794}"/>
              </a:ext>
            </a:extLst>
          </p:cNvPr>
          <p:cNvSpPr txBox="1"/>
          <p:nvPr/>
        </p:nvSpPr>
        <p:spPr>
          <a:xfrm>
            <a:off x="1681964" y="5713528"/>
            <a:ext cx="1159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Sidecar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FD367F-892D-45BF-9B99-0D875B81C175}"/>
              </a:ext>
            </a:extLst>
          </p:cNvPr>
          <p:cNvSpPr txBox="1"/>
          <p:nvPr/>
        </p:nvSpPr>
        <p:spPr>
          <a:xfrm>
            <a:off x="5170638" y="5713528"/>
            <a:ext cx="1159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Adapter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15D89F-9ED7-4977-88E4-A87A2D0156D6}"/>
              </a:ext>
            </a:extLst>
          </p:cNvPr>
          <p:cNvSpPr txBox="1"/>
          <p:nvPr/>
        </p:nvSpPr>
        <p:spPr>
          <a:xfrm>
            <a:off x="8730033" y="5665873"/>
            <a:ext cx="1519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Ambassador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727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Namespace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855090"/>
            <a:ext cx="11013937" cy="951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Namespaces allow subdividing a single physical cluster into multiple virtual clusters isolated from each other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Helps to isolate objects belonging to different teams and assign resource limits (e.g. CPU, Disk etc.) </a:t>
            </a:r>
            <a:endParaRPr lang="en-US" sz="18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83951D8-6E78-4308-85F7-765E0ED99EDE}"/>
              </a:ext>
            </a:extLst>
          </p:cNvPr>
          <p:cNvGrpSpPr/>
          <p:nvPr/>
        </p:nvGrpSpPr>
        <p:grpSpPr>
          <a:xfrm>
            <a:off x="2878849" y="5185761"/>
            <a:ext cx="1045028" cy="1186675"/>
            <a:chOff x="1018904" y="3657599"/>
            <a:chExt cx="1045028" cy="1186675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EC58114-627A-4FF1-A0ED-71345B32285A}"/>
                </a:ext>
              </a:extLst>
            </p:cNvPr>
            <p:cNvSpPr/>
            <p:nvPr/>
          </p:nvSpPr>
          <p:spPr>
            <a:xfrm>
              <a:off x="1018904" y="3657599"/>
              <a:ext cx="1045028" cy="11866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volumes</a:t>
              </a:r>
              <a:endParaRPr lang="en-GB" sz="1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7BD1B4B-FA84-428C-A27F-F5BF99BC0E49}"/>
                </a:ext>
              </a:extLst>
            </p:cNvPr>
            <p:cNvSpPr/>
            <p:nvPr/>
          </p:nvSpPr>
          <p:spPr>
            <a:xfrm>
              <a:off x="1172370" y="400354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127FD7-581A-45CD-8B31-B4DBE9E4CEBC}"/>
                </a:ext>
              </a:extLst>
            </p:cNvPr>
            <p:cNvSpPr/>
            <p:nvPr/>
          </p:nvSpPr>
          <p:spPr>
            <a:xfrm>
              <a:off x="1541418" y="4003546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FAC7FE-D3FF-498D-A2D8-53D0EB80D7DC}"/>
                </a:ext>
              </a:extLst>
            </p:cNvPr>
            <p:cNvSpPr/>
            <p:nvPr/>
          </p:nvSpPr>
          <p:spPr>
            <a:xfrm>
              <a:off x="1190639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F394C8-50C0-4B0A-8376-6989524E7775}"/>
                </a:ext>
              </a:extLst>
            </p:cNvPr>
            <p:cNvSpPr/>
            <p:nvPr/>
          </p:nvSpPr>
          <p:spPr>
            <a:xfrm>
              <a:off x="1541417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99129D-A48A-4F46-838B-0EAC23FAC672}"/>
              </a:ext>
            </a:extLst>
          </p:cNvPr>
          <p:cNvGrpSpPr/>
          <p:nvPr/>
        </p:nvGrpSpPr>
        <p:grpSpPr>
          <a:xfrm>
            <a:off x="2119471" y="3653140"/>
            <a:ext cx="1045028" cy="1186675"/>
            <a:chOff x="1018904" y="3657599"/>
            <a:chExt cx="1045028" cy="1186675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DD0E146-EA75-4CEA-9FD6-D28285084DA9}"/>
                </a:ext>
              </a:extLst>
            </p:cNvPr>
            <p:cNvSpPr/>
            <p:nvPr/>
          </p:nvSpPr>
          <p:spPr>
            <a:xfrm>
              <a:off x="1018904" y="3657599"/>
              <a:ext cx="1045028" cy="11866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Services</a:t>
              </a:r>
              <a:endParaRPr lang="en-GB" sz="1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B9037A7-9D2D-4513-93B1-9F5D4F3E8C81}"/>
                </a:ext>
              </a:extLst>
            </p:cNvPr>
            <p:cNvSpPr/>
            <p:nvPr/>
          </p:nvSpPr>
          <p:spPr>
            <a:xfrm>
              <a:off x="1172370" y="400354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9D2D27A-8C25-4E58-981A-CA3620CE5746}"/>
                </a:ext>
              </a:extLst>
            </p:cNvPr>
            <p:cNvSpPr/>
            <p:nvPr/>
          </p:nvSpPr>
          <p:spPr>
            <a:xfrm>
              <a:off x="1541418" y="4003546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4BB6A84-7C97-4DA4-B61D-FE0A20DDD965}"/>
                </a:ext>
              </a:extLst>
            </p:cNvPr>
            <p:cNvSpPr/>
            <p:nvPr/>
          </p:nvSpPr>
          <p:spPr>
            <a:xfrm>
              <a:off x="1190639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1715C3-922B-43B2-802F-15C8E930AFE2}"/>
                </a:ext>
              </a:extLst>
            </p:cNvPr>
            <p:cNvSpPr/>
            <p:nvPr/>
          </p:nvSpPr>
          <p:spPr>
            <a:xfrm>
              <a:off x="1541417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60C244C-8859-434A-B094-42542FE2246A}"/>
              </a:ext>
            </a:extLst>
          </p:cNvPr>
          <p:cNvGrpSpPr/>
          <p:nvPr/>
        </p:nvGrpSpPr>
        <p:grpSpPr>
          <a:xfrm>
            <a:off x="3227164" y="3653139"/>
            <a:ext cx="1045028" cy="1186675"/>
            <a:chOff x="1018904" y="3657599"/>
            <a:chExt cx="1045028" cy="1186675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83EA4D47-DAF3-4FE8-A685-1BA95640C8DE}"/>
                </a:ext>
              </a:extLst>
            </p:cNvPr>
            <p:cNvSpPr/>
            <p:nvPr/>
          </p:nvSpPr>
          <p:spPr>
            <a:xfrm>
              <a:off x="1018904" y="3657599"/>
              <a:ext cx="1045028" cy="11866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9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Deployments</a:t>
              </a:r>
              <a:endParaRPr lang="en-GB" sz="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A71600C-A072-437F-9502-2C7BE6206CCB}"/>
                </a:ext>
              </a:extLst>
            </p:cNvPr>
            <p:cNvSpPr/>
            <p:nvPr/>
          </p:nvSpPr>
          <p:spPr>
            <a:xfrm>
              <a:off x="1172370" y="400354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8FF0A96-FE80-42B8-8D11-BC5F698ADF43}"/>
                </a:ext>
              </a:extLst>
            </p:cNvPr>
            <p:cNvSpPr/>
            <p:nvPr/>
          </p:nvSpPr>
          <p:spPr>
            <a:xfrm>
              <a:off x="1541418" y="4003546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05C2EC-2986-42F0-BBA4-B8F9F2252482}"/>
                </a:ext>
              </a:extLst>
            </p:cNvPr>
            <p:cNvSpPr/>
            <p:nvPr/>
          </p:nvSpPr>
          <p:spPr>
            <a:xfrm>
              <a:off x="1190639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E3AB117-8F89-434A-AFF2-29408160DB0A}"/>
                </a:ext>
              </a:extLst>
            </p:cNvPr>
            <p:cNvSpPr/>
            <p:nvPr/>
          </p:nvSpPr>
          <p:spPr>
            <a:xfrm>
              <a:off x="1541417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9653150-DA6F-482C-8380-F466D4FFA4CC}"/>
              </a:ext>
            </a:extLst>
          </p:cNvPr>
          <p:cNvGrpSpPr/>
          <p:nvPr/>
        </p:nvGrpSpPr>
        <p:grpSpPr>
          <a:xfrm>
            <a:off x="977734" y="3653138"/>
            <a:ext cx="1045028" cy="1186675"/>
            <a:chOff x="1018904" y="3657599"/>
            <a:chExt cx="1045028" cy="1186675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D9899575-148A-4D83-8ADB-5490B46D1983}"/>
                </a:ext>
              </a:extLst>
            </p:cNvPr>
            <p:cNvSpPr/>
            <p:nvPr/>
          </p:nvSpPr>
          <p:spPr>
            <a:xfrm>
              <a:off x="1018904" y="3657599"/>
              <a:ext cx="1045028" cy="11866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Pods</a:t>
              </a:r>
              <a:endParaRPr lang="en-GB" sz="1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AD3F238-D491-4A98-9D9C-0941E7E70EBB}"/>
                </a:ext>
              </a:extLst>
            </p:cNvPr>
            <p:cNvSpPr/>
            <p:nvPr/>
          </p:nvSpPr>
          <p:spPr>
            <a:xfrm>
              <a:off x="1172370" y="400354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06EB8D5-3EFB-46A0-882B-6AC72F6DAA55}"/>
                </a:ext>
              </a:extLst>
            </p:cNvPr>
            <p:cNvSpPr/>
            <p:nvPr/>
          </p:nvSpPr>
          <p:spPr>
            <a:xfrm>
              <a:off x="1541418" y="4003546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5C8B8C9-5008-4742-B3B3-AD0AE27B16FD}"/>
                </a:ext>
              </a:extLst>
            </p:cNvPr>
            <p:cNvSpPr/>
            <p:nvPr/>
          </p:nvSpPr>
          <p:spPr>
            <a:xfrm>
              <a:off x="1190639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9FB8B37-C9E7-49A7-8FBF-050E408A851E}"/>
                </a:ext>
              </a:extLst>
            </p:cNvPr>
            <p:cNvSpPr/>
            <p:nvPr/>
          </p:nvSpPr>
          <p:spPr>
            <a:xfrm>
              <a:off x="1541417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8697F9E-272F-4C46-8961-24369AA43C28}"/>
              </a:ext>
            </a:extLst>
          </p:cNvPr>
          <p:cNvSpPr/>
          <p:nvPr/>
        </p:nvSpPr>
        <p:spPr>
          <a:xfrm>
            <a:off x="1227909" y="5185760"/>
            <a:ext cx="1045028" cy="1186675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Configuration</a:t>
            </a:r>
            <a:endParaRPr lang="en-GB" sz="9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6B4028-CC90-432F-A5F2-382F46CF7DAA}"/>
              </a:ext>
            </a:extLst>
          </p:cNvPr>
          <p:cNvSpPr/>
          <p:nvPr/>
        </p:nvSpPr>
        <p:spPr>
          <a:xfrm>
            <a:off x="1316060" y="5531709"/>
            <a:ext cx="891562" cy="31389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ConfigMaps</a:t>
            </a:r>
            <a:endParaRPr lang="en-GB" sz="9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F2533F0-B1EB-492A-8121-7E779191E032}"/>
              </a:ext>
            </a:extLst>
          </p:cNvPr>
          <p:cNvSpPr/>
          <p:nvPr/>
        </p:nvSpPr>
        <p:spPr>
          <a:xfrm>
            <a:off x="1316060" y="5873599"/>
            <a:ext cx="891562" cy="31389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Secrets</a:t>
            </a:r>
            <a:endParaRPr lang="en-GB" sz="9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DD6007B-2139-4C84-95E0-9A3B3209B453}"/>
              </a:ext>
            </a:extLst>
          </p:cNvPr>
          <p:cNvSpPr/>
          <p:nvPr/>
        </p:nvSpPr>
        <p:spPr>
          <a:xfrm>
            <a:off x="2668110" y="2936377"/>
            <a:ext cx="1045028" cy="49262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quota</a:t>
            </a:r>
            <a:endParaRPr lang="en-GB" sz="9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D9DB39F-83C6-4F1E-A448-3BC317476C20}"/>
              </a:ext>
            </a:extLst>
          </p:cNvPr>
          <p:cNvSpPr/>
          <p:nvPr/>
        </p:nvSpPr>
        <p:spPr>
          <a:xfrm>
            <a:off x="1448726" y="2936376"/>
            <a:ext cx="1045028" cy="49262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 accounts</a:t>
            </a:r>
            <a:endParaRPr lang="en-GB" sz="9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899892C-C2CC-4506-AE11-05690D7B0209}"/>
              </a:ext>
            </a:extLst>
          </p:cNvPr>
          <p:cNvGrpSpPr/>
          <p:nvPr/>
        </p:nvGrpSpPr>
        <p:grpSpPr>
          <a:xfrm>
            <a:off x="7443275" y="5185760"/>
            <a:ext cx="1045028" cy="1186675"/>
            <a:chOff x="1018904" y="3657599"/>
            <a:chExt cx="1045028" cy="1186675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53B43D48-91DA-483A-B0EE-6CCADC1BB185}"/>
                </a:ext>
              </a:extLst>
            </p:cNvPr>
            <p:cNvSpPr/>
            <p:nvPr/>
          </p:nvSpPr>
          <p:spPr>
            <a:xfrm>
              <a:off x="1018904" y="3657599"/>
              <a:ext cx="1045028" cy="11866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volumes</a:t>
              </a:r>
              <a:endParaRPr lang="en-GB" sz="12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BE42165-D582-4C37-A0E9-FCEA2E6083D1}"/>
                </a:ext>
              </a:extLst>
            </p:cNvPr>
            <p:cNvSpPr/>
            <p:nvPr/>
          </p:nvSpPr>
          <p:spPr>
            <a:xfrm>
              <a:off x="1172370" y="400354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BF2381F-8AEA-4805-BDC5-707E80AE2463}"/>
                </a:ext>
              </a:extLst>
            </p:cNvPr>
            <p:cNvSpPr/>
            <p:nvPr/>
          </p:nvSpPr>
          <p:spPr>
            <a:xfrm>
              <a:off x="1541418" y="4003546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56BC26D-21BF-4B23-AF84-AA36D3A2B667}"/>
                </a:ext>
              </a:extLst>
            </p:cNvPr>
            <p:cNvSpPr/>
            <p:nvPr/>
          </p:nvSpPr>
          <p:spPr>
            <a:xfrm>
              <a:off x="1190639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3DFE19C-3280-4FC0-892D-620B3A6A7807}"/>
                </a:ext>
              </a:extLst>
            </p:cNvPr>
            <p:cNvSpPr/>
            <p:nvPr/>
          </p:nvSpPr>
          <p:spPr>
            <a:xfrm>
              <a:off x="1541417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F760764-7B6D-4BAE-9258-D50F5215D33B}"/>
              </a:ext>
            </a:extLst>
          </p:cNvPr>
          <p:cNvGrpSpPr/>
          <p:nvPr/>
        </p:nvGrpSpPr>
        <p:grpSpPr>
          <a:xfrm>
            <a:off x="6683897" y="3653139"/>
            <a:ext cx="1045028" cy="1186675"/>
            <a:chOff x="1018904" y="3657599"/>
            <a:chExt cx="1045028" cy="1186675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F8A15FE3-5DA7-4D31-8A8A-CB5D0365ADF5}"/>
                </a:ext>
              </a:extLst>
            </p:cNvPr>
            <p:cNvSpPr/>
            <p:nvPr/>
          </p:nvSpPr>
          <p:spPr>
            <a:xfrm>
              <a:off x="1018904" y="3657599"/>
              <a:ext cx="1045028" cy="11866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Services</a:t>
              </a:r>
              <a:endParaRPr lang="en-GB" sz="12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2643301-001C-49DD-979A-D62F6CE599E9}"/>
                </a:ext>
              </a:extLst>
            </p:cNvPr>
            <p:cNvSpPr/>
            <p:nvPr/>
          </p:nvSpPr>
          <p:spPr>
            <a:xfrm>
              <a:off x="1172370" y="400354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0EE97BD-A209-435C-B50C-79139827FD4E}"/>
                </a:ext>
              </a:extLst>
            </p:cNvPr>
            <p:cNvSpPr/>
            <p:nvPr/>
          </p:nvSpPr>
          <p:spPr>
            <a:xfrm>
              <a:off x="1541418" y="4003546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26F8B93-1941-4708-8FFB-FAF2D9F11F9C}"/>
                </a:ext>
              </a:extLst>
            </p:cNvPr>
            <p:cNvSpPr/>
            <p:nvPr/>
          </p:nvSpPr>
          <p:spPr>
            <a:xfrm>
              <a:off x="1190639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F18C7EA-49D8-4587-9B20-BA765BA17400}"/>
                </a:ext>
              </a:extLst>
            </p:cNvPr>
            <p:cNvSpPr/>
            <p:nvPr/>
          </p:nvSpPr>
          <p:spPr>
            <a:xfrm>
              <a:off x="1541417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7C3C48D-9287-452A-9AFE-E148F7D23D43}"/>
              </a:ext>
            </a:extLst>
          </p:cNvPr>
          <p:cNvGrpSpPr/>
          <p:nvPr/>
        </p:nvGrpSpPr>
        <p:grpSpPr>
          <a:xfrm>
            <a:off x="7791590" y="3653138"/>
            <a:ext cx="1045028" cy="1186675"/>
            <a:chOff x="1018904" y="3657599"/>
            <a:chExt cx="1045028" cy="1186675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245A82D6-E59A-42E4-B239-CC221FFA0BCA}"/>
                </a:ext>
              </a:extLst>
            </p:cNvPr>
            <p:cNvSpPr/>
            <p:nvPr/>
          </p:nvSpPr>
          <p:spPr>
            <a:xfrm>
              <a:off x="1018904" y="3657599"/>
              <a:ext cx="1045028" cy="11866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9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Deployments</a:t>
              </a:r>
              <a:endParaRPr lang="en-GB" sz="9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7F221E1-62C1-4135-AD19-6BD44D321B1F}"/>
                </a:ext>
              </a:extLst>
            </p:cNvPr>
            <p:cNvSpPr/>
            <p:nvPr/>
          </p:nvSpPr>
          <p:spPr>
            <a:xfrm>
              <a:off x="1172370" y="400354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0E7C9FC-4763-4EAE-BE9C-C93599614F67}"/>
                </a:ext>
              </a:extLst>
            </p:cNvPr>
            <p:cNvSpPr/>
            <p:nvPr/>
          </p:nvSpPr>
          <p:spPr>
            <a:xfrm>
              <a:off x="1541418" y="4003546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80351EC-9C22-4C8F-8381-909CA6B75A8A}"/>
                </a:ext>
              </a:extLst>
            </p:cNvPr>
            <p:cNvSpPr/>
            <p:nvPr/>
          </p:nvSpPr>
          <p:spPr>
            <a:xfrm>
              <a:off x="1190639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A313C01-4DDC-47EE-949A-6DC4B7DFCA36}"/>
                </a:ext>
              </a:extLst>
            </p:cNvPr>
            <p:cNvSpPr/>
            <p:nvPr/>
          </p:nvSpPr>
          <p:spPr>
            <a:xfrm>
              <a:off x="1541417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93E643D-10EE-406C-BC8C-5345B2D6A5D6}"/>
              </a:ext>
            </a:extLst>
          </p:cNvPr>
          <p:cNvGrpSpPr/>
          <p:nvPr/>
        </p:nvGrpSpPr>
        <p:grpSpPr>
          <a:xfrm>
            <a:off x="5542160" y="3653137"/>
            <a:ext cx="1045028" cy="1186675"/>
            <a:chOff x="1018904" y="3657599"/>
            <a:chExt cx="1045028" cy="1186675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D3B01F3B-232C-4F67-99FF-14B94C705E63}"/>
                </a:ext>
              </a:extLst>
            </p:cNvPr>
            <p:cNvSpPr/>
            <p:nvPr/>
          </p:nvSpPr>
          <p:spPr>
            <a:xfrm>
              <a:off x="1018904" y="3657599"/>
              <a:ext cx="1045028" cy="11866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Pods</a:t>
              </a:r>
              <a:endParaRPr lang="en-GB" sz="12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38395C1-CDF9-46AB-91E9-230996230087}"/>
                </a:ext>
              </a:extLst>
            </p:cNvPr>
            <p:cNvSpPr/>
            <p:nvPr/>
          </p:nvSpPr>
          <p:spPr>
            <a:xfrm>
              <a:off x="1172370" y="400354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6008E5D-9F2F-4535-BC46-0BBDCD9A24A6}"/>
                </a:ext>
              </a:extLst>
            </p:cNvPr>
            <p:cNvSpPr/>
            <p:nvPr/>
          </p:nvSpPr>
          <p:spPr>
            <a:xfrm>
              <a:off x="1541418" y="4003546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E0EE372-B7A2-4768-A119-236867D6CD72}"/>
                </a:ext>
              </a:extLst>
            </p:cNvPr>
            <p:cNvSpPr/>
            <p:nvPr/>
          </p:nvSpPr>
          <p:spPr>
            <a:xfrm>
              <a:off x="1190639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0E68FC6-A94A-4BC7-A0DC-A4E4180BAFBF}"/>
                </a:ext>
              </a:extLst>
            </p:cNvPr>
            <p:cNvSpPr/>
            <p:nvPr/>
          </p:nvSpPr>
          <p:spPr>
            <a:xfrm>
              <a:off x="1541417" y="4345437"/>
              <a:ext cx="314239" cy="31389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C11C230-A65C-4E07-826E-4351958B226C}"/>
              </a:ext>
            </a:extLst>
          </p:cNvPr>
          <p:cNvSpPr/>
          <p:nvPr/>
        </p:nvSpPr>
        <p:spPr>
          <a:xfrm>
            <a:off x="5792335" y="5185759"/>
            <a:ext cx="1045028" cy="1186675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Configuration</a:t>
            </a:r>
            <a:endParaRPr lang="en-GB" sz="9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6D6E4A7-5D72-4D46-9705-46246CB10FED}"/>
              </a:ext>
            </a:extLst>
          </p:cNvPr>
          <p:cNvSpPr/>
          <p:nvPr/>
        </p:nvSpPr>
        <p:spPr>
          <a:xfrm>
            <a:off x="5880486" y="5531708"/>
            <a:ext cx="891562" cy="313894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accent2">
                    <a:lumMod val="75000"/>
                  </a:schemeClr>
                </a:solidFill>
              </a:rPr>
              <a:t>ConfigMaps</a:t>
            </a:r>
            <a:endParaRPr lang="en-GB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D10AB9F-B255-4D63-8012-846F099CF9E6}"/>
              </a:ext>
            </a:extLst>
          </p:cNvPr>
          <p:cNvSpPr/>
          <p:nvPr/>
        </p:nvSpPr>
        <p:spPr>
          <a:xfrm>
            <a:off x="5880486" y="5873598"/>
            <a:ext cx="891562" cy="313894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2">
                    <a:lumMod val="75000"/>
                  </a:schemeClr>
                </a:solidFill>
              </a:rPr>
              <a:t>Secrets</a:t>
            </a:r>
            <a:endParaRPr lang="en-GB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BCCCA48A-03FD-4DC8-91BE-4F39B3065F0F}"/>
              </a:ext>
            </a:extLst>
          </p:cNvPr>
          <p:cNvSpPr/>
          <p:nvPr/>
        </p:nvSpPr>
        <p:spPr>
          <a:xfrm>
            <a:off x="7232536" y="2936376"/>
            <a:ext cx="1045028" cy="492623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quota</a:t>
            </a:r>
            <a:endParaRPr lang="en-GB" sz="9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297E875B-002F-44B5-B308-2DDD0C2E84A2}"/>
              </a:ext>
            </a:extLst>
          </p:cNvPr>
          <p:cNvSpPr/>
          <p:nvPr/>
        </p:nvSpPr>
        <p:spPr>
          <a:xfrm>
            <a:off x="6013152" y="2936375"/>
            <a:ext cx="1045028" cy="492623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 accounts</a:t>
            </a:r>
            <a:endParaRPr lang="en-GB" sz="9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BF452D-7CA4-48C7-9D0B-6AE63232299B}"/>
              </a:ext>
            </a:extLst>
          </p:cNvPr>
          <p:cNvSpPr/>
          <p:nvPr/>
        </p:nvSpPr>
        <p:spPr>
          <a:xfrm>
            <a:off x="444137" y="2011494"/>
            <a:ext cx="9105878" cy="46766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03E3418-6680-46E9-8D3A-F107D9745D12}"/>
              </a:ext>
            </a:extLst>
          </p:cNvPr>
          <p:cNvCxnSpPr>
            <a:stCxn id="10" idx="0"/>
            <a:endCxn id="10" idx="2"/>
          </p:cNvCxnSpPr>
          <p:nvPr/>
        </p:nvCxnSpPr>
        <p:spPr>
          <a:xfrm>
            <a:off x="4997076" y="2011494"/>
            <a:ext cx="0" cy="4676689"/>
          </a:xfrm>
          <a:prstGeom prst="line">
            <a:avLst/>
          </a:prstGeom>
          <a:ln>
            <a:solidFill>
              <a:srgbClr val="2C3A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3D96A844-AD37-4876-A29F-69C913A7CA52}"/>
              </a:ext>
            </a:extLst>
          </p:cNvPr>
          <p:cNvSpPr txBox="1"/>
          <p:nvPr/>
        </p:nvSpPr>
        <p:spPr>
          <a:xfrm>
            <a:off x="2291206" y="2171438"/>
            <a:ext cx="12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Namespace</a:t>
            </a:r>
          </a:p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Blue-team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C09B117-A04F-43D6-AA48-D150D4D1E5FB}"/>
              </a:ext>
            </a:extLst>
          </p:cNvPr>
          <p:cNvSpPr txBox="1"/>
          <p:nvPr/>
        </p:nvSpPr>
        <p:spPr>
          <a:xfrm>
            <a:off x="6437033" y="2150769"/>
            <a:ext cx="1330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Namespace</a:t>
            </a:r>
          </a:p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Green-team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198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Labels and Selectors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732223" y="901800"/>
            <a:ext cx="11013937" cy="1757847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key-value pairs associated with objects that help you to identify and query</a:t>
            </a:r>
          </a:p>
          <a:p>
            <a:pPr>
              <a:lnSpc>
                <a:spcPct val="100000"/>
              </a:lnSpc>
            </a:pPr>
            <a:r>
              <a:rPr lang="en-US" sz="21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Indexed and tracked by K8S for querying, sorting and filtering. So keep them short and sharp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33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Selectors</a:t>
            </a:r>
            <a:r>
              <a:rPr lang="en-US" sz="18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the mechanism for performing queries on objects based on labels</a:t>
            </a:r>
          </a:p>
          <a:p>
            <a:pPr>
              <a:lnSpc>
                <a:spcPct val="100000"/>
              </a:lnSpc>
            </a:pPr>
            <a:r>
              <a:rPr lang="en-US" sz="18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 mostly for services and deployments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33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Annotations</a:t>
            </a:r>
            <a:r>
              <a:rPr lang="en-US" sz="18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key value pairs that store detailed non-identifying metadata about objects (not indexed or queried)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5AFC81-4298-4ED9-8FBE-B31A4587E1EF}"/>
              </a:ext>
            </a:extLst>
          </p:cNvPr>
          <p:cNvSpPr/>
          <p:nvPr/>
        </p:nvSpPr>
        <p:spPr>
          <a:xfrm>
            <a:off x="791974" y="3198582"/>
            <a:ext cx="2902552" cy="28877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my-pod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release: beta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environment: dev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region: us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…..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BDE9D8-CE53-41E7-873E-2B1489335740}"/>
              </a:ext>
            </a:extLst>
          </p:cNvPr>
          <p:cNvSpPr/>
          <p:nvPr/>
        </p:nvSpPr>
        <p:spPr>
          <a:xfrm>
            <a:off x="4410195" y="3193522"/>
            <a:ext cx="3039989" cy="28877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my-service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selector:  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release: beta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environment: prod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…..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0EA77-2946-4151-89AB-C6E0F403F7F2}"/>
              </a:ext>
            </a:extLst>
          </p:cNvPr>
          <p:cNvSpPr txBox="1"/>
          <p:nvPr/>
        </p:nvSpPr>
        <p:spPr>
          <a:xfrm>
            <a:off x="1663680" y="6167526"/>
            <a:ext cx="1159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50068-1971-40C2-8E52-29D4710B02FD}"/>
              </a:ext>
            </a:extLst>
          </p:cNvPr>
          <p:cNvSpPr txBox="1"/>
          <p:nvPr/>
        </p:nvSpPr>
        <p:spPr>
          <a:xfrm>
            <a:off x="5470192" y="6167526"/>
            <a:ext cx="1159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Selectors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1349CC-3196-4B3A-BEE8-E963D78F3D6E}"/>
              </a:ext>
            </a:extLst>
          </p:cNvPr>
          <p:cNvSpPr/>
          <p:nvPr/>
        </p:nvSpPr>
        <p:spPr>
          <a:xfrm>
            <a:off x="8011189" y="3198582"/>
            <a:ext cx="3039989" cy="28877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my-pod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annotations: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commit: 7ae76hgyt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contact: ‘Shashidhar K’  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26D27B-E28E-453C-A966-F605C0B38390}"/>
              </a:ext>
            </a:extLst>
          </p:cNvPr>
          <p:cNvSpPr txBox="1"/>
          <p:nvPr/>
        </p:nvSpPr>
        <p:spPr>
          <a:xfrm>
            <a:off x="8634550" y="6172586"/>
            <a:ext cx="1595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Annotations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137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Assignment 2 – Creating your first Pods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5929" y="1306749"/>
            <a:ext cx="10169738" cy="10297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Lab Guide titled – “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 Guide – Creating your first Pods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the lab setup as instructed in the document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765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Deployments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36863" y="1828327"/>
            <a:ext cx="4905088" cy="32013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 of deployments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Deployment YAML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Rolling updates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Rolling back and scaling deployments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3994807" y="1828815"/>
            <a:ext cx="126817" cy="32008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36914" y="2949499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870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Overview of Deployments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972753"/>
            <a:ext cx="11013937" cy="51150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Deployments help to automate the management of a set of identical PODs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Specifies a desired state for a set of PODs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Helps in:-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Scaling</a:t>
            </a: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By specifying number of replicas of the POD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Rolling updates</a:t>
            </a: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Gradually replace older containers with new version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Self-healing</a:t>
            </a: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If a POD crashes, a new one is spun up to take its place</a:t>
            </a:r>
          </a:p>
        </p:txBody>
      </p:sp>
    </p:spTree>
    <p:extLst>
      <p:ext uri="{BB962C8B-B14F-4D97-AF65-F5344CB8AC3E}">
        <p14:creationId xmlns:p14="http://schemas.microsoft.com/office/powerpoint/2010/main" val="2376953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Deployment YAML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5AFC81-4298-4ED9-8FBE-B31A4587E1EF}"/>
              </a:ext>
            </a:extLst>
          </p:cNvPr>
          <p:cNvSpPr/>
          <p:nvPr/>
        </p:nvSpPr>
        <p:spPr>
          <a:xfrm>
            <a:off x="791974" y="811530"/>
            <a:ext cx="4054346" cy="57561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apps/v1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Deployment</a:t>
            </a:r>
            <a:endParaRPr lang="en-US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-deployment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spec:</a:t>
            </a:r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replicas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strategy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Recreate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selector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matchLabels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template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containers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-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1.15.4</a:t>
            </a:r>
          </a:p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57621C13-5A11-4806-91A5-2A96FC521B9B}"/>
              </a:ext>
            </a:extLst>
          </p:cNvPr>
          <p:cNvSpPr/>
          <p:nvPr/>
        </p:nvSpPr>
        <p:spPr>
          <a:xfrm>
            <a:off x="5166360" y="2377440"/>
            <a:ext cx="342900" cy="13487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92F9DB71-E127-4533-8D22-332DFA54CA1F}"/>
              </a:ext>
            </a:extLst>
          </p:cNvPr>
          <p:cNvSpPr/>
          <p:nvPr/>
        </p:nvSpPr>
        <p:spPr>
          <a:xfrm>
            <a:off x="5166360" y="4404360"/>
            <a:ext cx="342900" cy="13487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C44020-7F78-4D60-AB0D-128EE45FACFD}"/>
              </a:ext>
            </a:extLst>
          </p:cNvPr>
          <p:cNvSpPr txBox="1"/>
          <p:nvPr/>
        </p:nvSpPr>
        <p:spPr>
          <a:xfrm>
            <a:off x="5791202" y="2279332"/>
            <a:ext cx="30445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Defines the number of replicas needed for the POD and which POD to replicate (using label)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Also the strategy for replacing POD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3A264-2A17-412A-9580-195E58D70C03}"/>
              </a:ext>
            </a:extLst>
          </p:cNvPr>
          <p:cNvSpPr txBox="1"/>
          <p:nvPr/>
        </p:nvSpPr>
        <p:spPr>
          <a:xfrm>
            <a:off x="5823406" y="4894064"/>
            <a:ext cx="304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POD definition(s)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592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Rolling updates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972753"/>
            <a:ext cx="11013937" cy="5115002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the deployment configuration changes (e.g. new image), K8S will reconcile the system state with the change. The approach is determined by the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strategy.type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field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ecreate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All running PODs are killed and new PODs are created in their place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Rolling</a:t>
            </a:r>
            <a:r>
              <a:rPr lang="en-US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Update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Graceful update of PODs one at a time to prevent application from going down. Two useful fields that can be used:</a:t>
            </a:r>
          </a:p>
          <a:p>
            <a:pPr lvl="1">
              <a:lnSpc>
                <a:spcPct val="150000"/>
              </a:lnSpc>
            </a:pPr>
            <a:r>
              <a:rPr lang="en-US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maxUnavailable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Determines how may PODS can be unavailable during the update (number or percentage)</a:t>
            </a:r>
          </a:p>
          <a:p>
            <a:pPr lvl="1">
              <a:lnSpc>
                <a:spcPct val="150000"/>
              </a:lnSpc>
            </a:pPr>
            <a:r>
              <a:rPr lang="en-US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maxSurge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Determines the maximum number of PODs that can be created over the desired number (number or percentage)</a:t>
            </a:r>
          </a:p>
          <a:p>
            <a:pPr lvl="1">
              <a:lnSpc>
                <a:spcPct val="150000"/>
              </a:lnSpc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505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Rolling back and Scaling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972753"/>
            <a:ext cx="11013937" cy="51150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Deployment rollout and configuration history is tracked by K8S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possible to query the history and status of deployments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possible to roll back to a previous version of the deployment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Scaling deployments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possible to adjust the number of replicas –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Manual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scaling  - using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kubectl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scale command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Autoscaling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using Horizontal POD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Autoscaler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that adjusts the POD count based on resource utilization</a:t>
            </a:r>
          </a:p>
          <a:p>
            <a:pPr lvl="1">
              <a:lnSpc>
                <a:spcPct val="150000"/>
              </a:lnSpc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164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Assignment 3 – Creating deployments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5929" y="1306749"/>
            <a:ext cx="10169738" cy="10297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Lab Guide titled – “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 Guide – Creating Deployments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the lab setup as instructed in the document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640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Services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36863" y="1828327"/>
            <a:ext cx="4905088" cy="37625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 of services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Types of services</a:t>
            </a:r>
          </a:p>
          <a:p>
            <a:pPr>
              <a:lnSpc>
                <a:spcPct val="150000"/>
              </a:lnSpc>
            </a:pP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ClusterIP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service</a:t>
            </a:r>
          </a:p>
          <a:p>
            <a:pPr>
              <a:lnSpc>
                <a:spcPct val="150000"/>
              </a:lnSpc>
            </a:pP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service</a:t>
            </a:r>
          </a:p>
          <a:p>
            <a:pPr>
              <a:lnSpc>
                <a:spcPct val="150000"/>
              </a:lnSpc>
            </a:pP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LoadBalancer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service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Calling an external service from K8S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Ingress 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Canary deployments</a:t>
            </a: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3994807" y="1828815"/>
            <a:ext cx="126817" cy="37620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36914" y="2949499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548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Overview of a service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637299"/>
            <a:ext cx="11013937" cy="1117304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Kubernetes service is a resource that provides a constant common point of entry to a group of PODs that implement the same underlying service. Uses label selectors to determine the PODs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CFAB9BE1-7DC0-40BF-8F6C-ABCDDCF85785}"/>
              </a:ext>
            </a:extLst>
          </p:cNvPr>
          <p:cNvSpPr/>
          <p:nvPr/>
        </p:nvSpPr>
        <p:spPr>
          <a:xfrm>
            <a:off x="4423951" y="4663446"/>
            <a:ext cx="2351314" cy="888274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Backend service</a:t>
            </a:r>
          </a:p>
          <a:p>
            <a:pPr algn="ctr"/>
            <a:r>
              <a:rPr lang="en-US" sz="1400" b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Selector:app</a:t>
            </a:r>
            <a:r>
              <a:rPr lang="en-US" sz="1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=svc2</a:t>
            </a:r>
            <a:endParaRPr lang="en-GB" sz="1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2D7CA9-875E-4EC6-8DBF-E666E589E693}"/>
              </a:ext>
            </a:extLst>
          </p:cNvPr>
          <p:cNvSpPr/>
          <p:nvPr/>
        </p:nvSpPr>
        <p:spPr>
          <a:xfrm>
            <a:off x="4672147" y="5907193"/>
            <a:ext cx="1828800" cy="692333"/>
          </a:xfrm>
          <a:prstGeom prst="roundRect">
            <a:avLst/>
          </a:prstGeom>
          <a:solidFill>
            <a:srgbClr val="D7F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Backend POD 1</a:t>
            </a:r>
          </a:p>
          <a:p>
            <a:pPr algn="ctr"/>
            <a:r>
              <a:rPr lang="en-US" sz="16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app=svc2</a:t>
            </a:r>
            <a:endParaRPr lang="en-GB" sz="16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80D11A-0455-4241-9E36-0875013A6AF1}"/>
              </a:ext>
            </a:extLst>
          </p:cNvPr>
          <p:cNvSpPr/>
          <p:nvPr/>
        </p:nvSpPr>
        <p:spPr>
          <a:xfrm>
            <a:off x="4802777" y="3618409"/>
            <a:ext cx="1828800" cy="5103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Frontend POD 2</a:t>
            </a:r>
          </a:p>
          <a:p>
            <a:pPr algn="ctr"/>
            <a:r>
              <a:rPr lang="en-US" sz="16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app:svc1</a:t>
            </a:r>
            <a:endParaRPr lang="en-GB" sz="16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D08EE7-EAE0-4DAC-9011-485709DB7172}"/>
              </a:ext>
            </a:extLst>
          </p:cNvPr>
          <p:cNvSpPr/>
          <p:nvPr/>
        </p:nvSpPr>
        <p:spPr>
          <a:xfrm>
            <a:off x="7245531" y="3605345"/>
            <a:ext cx="1828800" cy="52345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Frontend POD 3</a:t>
            </a:r>
          </a:p>
          <a:p>
            <a:pPr algn="ctr"/>
            <a:r>
              <a:rPr lang="en-US" sz="16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app:svc1</a:t>
            </a:r>
            <a:endParaRPr lang="en-GB" sz="16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632404-E351-435B-882D-7B55D48431A3}"/>
              </a:ext>
            </a:extLst>
          </p:cNvPr>
          <p:cNvSpPr/>
          <p:nvPr/>
        </p:nvSpPr>
        <p:spPr>
          <a:xfrm>
            <a:off x="2033451" y="3614051"/>
            <a:ext cx="1828800" cy="51474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Frontend POD 1</a:t>
            </a:r>
          </a:p>
          <a:p>
            <a:pPr algn="ctr"/>
            <a:r>
              <a:rPr lang="en-US" sz="16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app:svc1</a:t>
            </a:r>
            <a:endParaRPr lang="en-GB" sz="16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C02720A7-AA9D-4938-954A-AFE5665FB880}"/>
              </a:ext>
            </a:extLst>
          </p:cNvPr>
          <p:cNvSpPr/>
          <p:nvPr/>
        </p:nvSpPr>
        <p:spPr>
          <a:xfrm>
            <a:off x="4410890" y="2216333"/>
            <a:ext cx="2603864" cy="888274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Frontend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service</a:t>
            </a:r>
          </a:p>
          <a:p>
            <a:pPr algn="ctr"/>
            <a:r>
              <a:rPr lang="en-US" sz="1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Selector: app=svc1</a:t>
            </a:r>
            <a:endParaRPr lang="en-GB" sz="1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F3A5AC-90ED-4CF8-A38A-57698C4298AF}"/>
              </a:ext>
            </a:extLst>
          </p:cNvPr>
          <p:cNvCxnSpPr>
            <a:cxnSpLocks/>
            <a:stCxn id="13" idx="1"/>
          </p:cNvCxnSpPr>
          <p:nvPr/>
        </p:nvCxnSpPr>
        <p:spPr>
          <a:xfrm>
            <a:off x="5712822" y="3103661"/>
            <a:ext cx="0" cy="50168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BF634D-24BB-419D-A4EB-CAFFFC14D294}"/>
              </a:ext>
            </a:extLst>
          </p:cNvPr>
          <p:cNvCxnSpPr>
            <a:cxnSpLocks/>
          </p:cNvCxnSpPr>
          <p:nvPr/>
        </p:nvCxnSpPr>
        <p:spPr>
          <a:xfrm>
            <a:off x="5712822" y="4161762"/>
            <a:ext cx="0" cy="50168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042E0E9-2B35-4DF9-9149-05385CAE8AEB}"/>
              </a:ext>
            </a:extLst>
          </p:cNvPr>
          <p:cNvCxnSpPr>
            <a:cxnSpLocks/>
          </p:cNvCxnSpPr>
          <p:nvPr/>
        </p:nvCxnSpPr>
        <p:spPr>
          <a:xfrm>
            <a:off x="2952206" y="3317966"/>
            <a:ext cx="5185954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D8E3B9-5423-463A-BAC5-9FD01D5D501B}"/>
              </a:ext>
            </a:extLst>
          </p:cNvPr>
          <p:cNvCxnSpPr>
            <a:cxnSpLocks/>
          </p:cNvCxnSpPr>
          <p:nvPr/>
        </p:nvCxnSpPr>
        <p:spPr>
          <a:xfrm>
            <a:off x="2952206" y="3317966"/>
            <a:ext cx="0" cy="315691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AEC795B-A61C-4648-8923-7755A0B5E510}"/>
              </a:ext>
            </a:extLst>
          </p:cNvPr>
          <p:cNvCxnSpPr>
            <a:cxnSpLocks/>
          </p:cNvCxnSpPr>
          <p:nvPr/>
        </p:nvCxnSpPr>
        <p:spPr>
          <a:xfrm>
            <a:off x="8146881" y="3326673"/>
            <a:ext cx="0" cy="315691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C6CFA30-C068-4CDE-81DE-7E0597D7991D}"/>
              </a:ext>
            </a:extLst>
          </p:cNvPr>
          <p:cNvCxnSpPr>
            <a:cxnSpLocks/>
          </p:cNvCxnSpPr>
          <p:nvPr/>
        </p:nvCxnSpPr>
        <p:spPr>
          <a:xfrm>
            <a:off x="2987039" y="4423955"/>
            <a:ext cx="5185954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8889F6-50D7-46C7-BB59-EB79148B6C91}"/>
              </a:ext>
            </a:extLst>
          </p:cNvPr>
          <p:cNvCxnSpPr>
            <a:cxnSpLocks/>
          </p:cNvCxnSpPr>
          <p:nvPr/>
        </p:nvCxnSpPr>
        <p:spPr>
          <a:xfrm>
            <a:off x="3000102" y="4136570"/>
            <a:ext cx="0" cy="315691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86B6317-FD0F-4985-9BA9-6E442A467E0E}"/>
              </a:ext>
            </a:extLst>
          </p:cNvPr>
          <p:cNvCxnSpPr>
            <a:cxnSpLocks/>
          </p:cNvCxnSpPr>
          <p:nvPr/>
        </p:nvCxnSpPr>
        <p:spPr>
          <a:xfrm>
            <a:off x="8146882" y="4110453"/>
            <a:ext cx="0" cy="315691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228BA89-5644-40B5-84EF-F8B3362D3648}"/>
              </a:ext>
            </a:extLst>
          </p:cNvPr>
          <p:cNvCxnSpPr>
            <a:cxnSpLocks/>
          </p:cNvCxnSpPr>
          <p:nvPr/>
        </p:nvCxnSpPr>
        <p:spPr>
          <a:xfrm>
            <a:off x="5617025" y="5450633"/>
            <a:ext cx="0" cy="50168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504C1A9-C228-4032-869B-D73F1AAC5F24}"/>
              </a:ext>
            </a:extLst>
          </p:cNvPr>
          <p:cNvSpPr/>
          <p:nvPr/>
        </p:nvSpPr>
        <p:spPr>
          <a:xfrm>
            <a:off x="1087482" y="2234346"/>
            <a:ext cx="1446711" cy="8882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 Client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6CEBBD0-41A4-4355-9014-ED513257841C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2534193" y="2664050"/>
            <a:ext cx="1889758" cy="14433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472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Service implementation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972753"/>
            <a:ext cx="11481049" cy="29722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 is a REST object that uses label selectors over PODs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port mappings are allowed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Internally the service uses “Endpoints” to keep track of which PODs the request should be routed to (this is an abstraction that sits between the service and PODs)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the service points to an external service (outside the cluster), an Endpoint resource should be created (more later)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 can be discovered either through environment variables or through DNS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DECCF-EEEB-438F-8C71-7F408B761403}"/>
              </a:ext>
            </a:extLst>
          </p:cNvPr>
          <p:cNvSpPr/>
          <p:nvPr/>
        </p:nvSpPr>
        <p:spPr>
          <a:xfrm>
            <a:off x="940527" y="3458678"/>
            <a:ext cx="3944983" cy="3108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Service</a:t>
            </a:r>
          </a:p>
          <a:p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my-service</a:t>
            </a:r>
          </a:p>
          <a:p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selector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MyApp</a:t>
            </a:r>
            <a:endParaRPr lang="en-GB" dirty="0">
              <a:solidFill>
                <a:schemeClr val="accent3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ports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-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protocol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TCP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80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GB" b="1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targetPort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9376</a:t>
            </a:r>
          </a:p>
        </p:txBody>
      </p:sp>
    </p:spTree>
    <p:extLst>
      <p:ext uri="{BB962C8B-B14F-4D97-AF65-F5344CB8AC3E}">
        <p14:creationId xmlns:p14="http://schemas.microsoft.com/office/powerpoint/2010/main" val="744389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Service Types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972753"/>
            <a:ext cx="11441860" cy="5115002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667" b="1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ClusterIP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Exposes the Service on a cluster-internal IP. Choosing this value makes the Service only reachable from within the cluster. This is the default </a:t>
            </a:r>
            <a:r>
              <a:rPr lang="en-US" sz="2667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ServiceType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667" b="1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r>
              <a:rPr lang="en-US" sz="2667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Exposes the Service on each Node's IP at a static port (the </a:t>
            </a:r>
            <a:r>
              <a:rPr lang="en-US" sz="2667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 A </a:t>
            </a:r>
            <a:r>
              <a:rPr lang="en-US" sz="2667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ClusterIP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Service, to which the </a:t>
            </a:r>
            <a:r>
              <a:rPr lang="en-US" sz="2667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Service routes, is automatically created. You'll be able to contact the </a:t>
            </a:r>
            <a:r>
              <a:rPr lang="en-US" sz="2667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Service, from outside the cluster, by requesting &lt;</a:t>
            </a:r>
            <a:r>
              <a:rPr lang="en-US" sz="2667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NodeIP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&gt;:&lt;</a:t>
            </a:r>
            <a:r>
              <a:rPr lang="en-US" sz="2667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667" b="1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LoadBalancer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Exposes the Service externally using a cloud provider's load balancer. </a:t>
            </a:r>
            <a:r>
              <a:rPr lang="en-US" sz="2667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667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ClusterIP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Services, to which the external load balancer routes, are automatically created.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667" b="1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ExternalName</a:t>
            </a:r>
            <a:r>
              <a:rPr lang="en-US" sz="2667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Maps the Service to the contents of the </a:t>
            </a:r>
            <a:r>
              <a:rPr lang="en-US" sz="2667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externalName</a:t>
            </a:r>
            <a:r>
              <a:rPr lang="en-US" sz="2667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field (e.g. foo.bar.example.com), by returning a CNAME record with its value. No proxying of any kind is set up.</a:t>
            </a:r>
          </a:p>
        </p:txBody>
      </p:sp>
    </p:spTree>
    <p:extLst>
      <p:ext uri="{BB962C8B-B14F-4D97-AF65-F5344CB8AC3E}">
        <p14:creationId xmlns:p14="http://schemas.microsoft.com/office/powerpoint/2010/main" val="2804266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Type </a:t>
            </a:r>
            <a:r>
              <a:rPr lang="en-US" sz="2850" dirty="0" err="1">
                <a:solidFill>
                  <a:schemeClr val="tx2"/>
                </a:solidFill>
              </a:rPr>
              <a:t>ClusterIP</a:t>
            </a:r>
            <a:endParaRPr lang="en-US" sz="2850" dirty="0">
              <a:solidFill>
                <a:schemeClr val="tx2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CF92B8-64FA-4CCF-A007-AA83FD1D3BDC}"/>
              </a:ext>
            </a:extLst>
          </p:cNvPr>
          <p:cNvGrpSpPr/>
          <p:nvPr/>
        </p:nvGrpSpPr>
        <p:grpSpPr>
          <a:xfrm>
            <a:off x="6692533" y="3722914"/>
            <a:ext cx="1924594" cy="2612570"/>
            <a:chOff x="5634445" y="3396343"/>
            <a:chExt cx="1924594" cy="261257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3DFE3228-633E-45D5-9492-75CDAC933369}"/>
                </a:ext>
              </a:extLst>
            </p:cNvPr>
            <p:cNvSpPr/>
            <p:nvPr/>
          </p:nvSpPr>
          <p:spPr>
            <a:xfrm>
              <a:off x="5634445" y="3396343"/>
              <a:ext cx="1924594" cy="26125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POD1</a:t>
              </a:r>
              <a:endParaRPr lang="en-GB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94F066B-F12C-482F-90AE-ED837665C559}"/>
                </a:ext>
              </a:extLst>
            </p:cNvPr>
            <p:cNvSpPr/>
            <p:nvPr/>
          </p:nvSpPr>
          <p:spPr>
            <a:xfrm>
              <a:off x="5913119" y="4121331"/>
              <a:ext cx="1358537" cy="13977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rgbClr val="2C3A8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Container</a:t>
              </a:r>
            </a:p>
            <a:p>
              <a:pPr algn="ctr"/>
              <a:endParaRPr lang="en-US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dirty="0">
                  <a:solidFill>
                    <a:srgbClr val="2C3A8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NGINX</a:t>
              </a:r>
            </a:p>
            <a:p>
              <a:pPr algn="ctr"/>
              <a:r>
                <a:rPr lang="en-US" dirty="0">
                  <a:solidFill>
                    <a:srgbClr val="2C3A8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Port 80</a:t>
              </a:r>
              <a:endParaRPr lang="en-GB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0511C00-7B55-4325-AF3F-398B995A7C46}"/>
              </a:ext>
            </a:extLst>
          </p:cNvPr>
          <p:cNvGrpSpPr/>
          <p:nvPr/>
        </p:nvGrpSpPr>
        <p:grpSpPr>
          <a:xfrm>
            <a:off x="9281212" y="3651069"/>
            <a:ext cx="1924594" cy="2612570"/>
            <a:chOff x="8203472" y="3370217"/>
            <a:chExt cx="1924594" cy="261257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99C8B9A-C285-4A35-9EF5-57B80FF5F7D5}"/>
                </a:ext>
              </a:extLst>
            </p:cNvPr>
            <p:cNvSpPr/>
            <p:nvPr/>
          </p:nvSpPr>
          <p:spPr>
            <a:xfrm>
              <a:off x="8203472" y="3370217"/>
              <a:ext cx="1924594" cy="26125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POD2</a:t>
              </a:r>
              <a:endParaRPr lang="en-GB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CA0A7B-BA37-4E04-A5B2-00B60C41E087}"/>
                </a:ext>
              </a:extLst>
            </p:cNvPr>
            <p:cNvSpPr/>
            <p:nvPr/>
          </p:nvSpPr>
          <p:spPr>
            <a:xfrm>
              <a:off x="8482146" y="4095205"/>
              <a:ext cx="1358537" cy="13977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rgbClr val="2C3A8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Container</a:t>
              </a:r>
            </a:p>
            <a:p>
              <a:pPr algn="ctr"/>
              <a:endParaRPr lang="en-US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dirty="0">
                  <a:solidFill>
                    <a:srgbClr val="2C3A8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NGINX</a:t>
              </a:r>
            </a:p>
            <a:p>
              <a:pPr algn="ctr"/>
              <a:r>
                <a:rPr lang="en-US" dirty="0">
                  <a:solidFill>
                    <a:srgbClr val="2C3A8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Port 80</a:t>
              </a:r>
              <a:endParaRPr lang="en-GB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B866D7-CA7B-474E-9FA8-E4506C792DF3}"/>
              </a:ext>
            </a:extLst>
          </p:cNvPr>
          <p:cNvGrpSpPr/>
          <p:nvPr/>
        </p:nvGrpSpPr>
        <p:grpSpPr>
          <a:xfrm>
            <a:off x="4179415" y="2390503"/>
            <a:ext cx="1924594" cy="2612570"/>
            <a:chOff x="5634445" y="3396343"/>
            <a:chExt cx="1924594" cy="261257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5A3687C-D1F0-4C30-9A22-45987EF89F28}"/>
                </a:ext>
              </a:extLst>
            </p:cNvPr>
            <p:cNvSpPr/>
            <p:nvPr/>
          </p:nvSpPr>
          <p:spPr>
            <a:xfrm>
              <a:off x="5634445" y="3396343"/>
              <a:ext cx="1924594" cy="26125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POD3</a:t>
              </a:r>
              <a:endParaRPr lang="en-GB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02A945-55DA-4E80-8E0A-8B8D6E40A7B8}"/>
                </a:ext>
              </a:extLst>
            </p:cNvPr>
            <p:cNvSpPr/>
            <p:nvPr/>
          </p:nvSpPr>
          <p:spPr>
            <a:xfrm>
              <a:off x="5913119" y="4121331"/>
              <a:ext cx="1358537" cy="13977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rgbClr val="2C3A8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Container</a:t>
              </a:r>
            </a:p>
            <a:p>
              <a:pPr algn="ctr"/>
              <a:endParaRPr lang="en-US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1E24DF5-E5D0-4295-B54A-D38CC67D168E}"/>
              </a:ext>
            </a:extLst>
          </p:cNvPr>
          <p:cNvSpPr/>
          <p:nvPr/>
        </p:nvSpPr>
        <p:spPr>
          <a:xfrm>
            <a:off x="7414782" y="2303513"/>
            <a:ext cx="3004457" cy="7263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Service: my-svc</a:t>
            </a:r>
          </a:p>
          <a:p>
            <a:pPr algn="ctr"/>
            <a:r>
              <a:rPr lang="en-US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10.112.234.134: 8080</a:t>
            </a:r>
            <a:endParaRPr lang="en-GB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4F61CA-A336-4F08-808A-25A732AC497F}"/>
              </a:ext>
            </a:extLst>
          </p:cNvPr>
          <p:cNvCxnSpPr>
            <a:cxnSpLocks/>
          </p:cNvCxnSpPr>
          <p:nvPr/>
        </p:nvCxnSpPr>
        <p:spPr>
          <a:xfrm flipH="1">
            <a:off x="8329744" y="3029889"/>
            <a:ext cx="587268" cy="1346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773A9F-3990-4306-A772-AE4E5686DB7F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8917011" y="3029889"/>
            <a:ext cx="664086" cy="1346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ECA787-7E43-4B81-9FB5-83978A897B80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 flipV="1">
            <a:off x="5816626" y="2666701"/>
            <a:ext cx="1598156" cy="1147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3DFBF-4F6A-4328-88B5-D9D7197AF3EF}"/>
              </a:ext>
            </a:extLst>
          </p:cNvPr>
          <p:cNvSpPr/>
          <p:nvPr/>
        </p:nvSpPr>
        <p:spPr>
          <a:xfrm>
            <a:off x="114883" y="2344779"/>
            <a:ext cx="3632900" cy="34224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Service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my-svc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ports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8080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targetPort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80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selector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my-app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375972-5A06-4EEC-92F3-459E8AA4F610}"/>
              </a:ext>
            </a:extLst>
          </p:cNvPr>
          <p:cNvSpPr/>
          <p:nvPr/>
        </p:nvSpPr>
        <p:spPr>
          <a:xfrm>
            <a:off x="569717" y="863414"/>
            <a:ext cx="100012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ClusterIP</a:t>
            </a: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is the default </a:t>
            </a:r>
            <a:r>
              <a:rPr lang="en-US" dirty="0" err="1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b="1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</a:t>
            </a: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This </a:t>
            </a:r>
            <a:r>
              <a:rPr lang="en-US" b="1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</a:t>
            </a: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is created inside a cluster and can only be accessed by other pods in that cluster. Use this type of </a:t>
            </a:r>
            <a:r>
              <a:rPr lang="en-US" b="1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</a:t>
            </a: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when you want to expose a </a:t>
            </a:r>
            <a:r>
              <a:rPr lang="en-US" b="1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</a:t>
            </a: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to other pods within the same cluster.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0115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Type </a:t>
            </a:r>
            <a:r>
              <a:rPr lang="en-US" sz="2850" dirty="0" err="1">
                <a:solidFill>
                  <a:schemeClr val="tx2"/>
                </a:solidFill>
              </a:rPr>
              <a:t>NodePort</a:t>
            </a:r>
            <a:endParaRPr lang="en-US" sz="2850" dirty="0">
              <a:solidFill>
                <a:schemeClr val="tx2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CF92B8-64FA-4CCF-A007-AA83FD1D3BDC}"/>
              </a:ext>
            </a:extLst>
          </p:cNvPr>
          <p:cNvGrpSpPr/>
          <p:nvPr/>
        </p:nvGrpSpPr>
        <p:grpSpPr>
          <a:xfrm>
            <a:off x="5497337" y="3764972"/>
            <a:ext cx="1924594" cy="2612570"/>
            <a:chOff x="5634445" y="3396343"/>
            <a:chExt cx="1924594" cy="261257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3DFE3228-633E-45D5-9492-75CDAC933369}"/>
                </a:ext>
              </a:extLst>
            </p:cNvPr>
            <p:cNvSpPr/>
            <p:nvPr/>
          </p:nvSpPr>
          <p:spPr>
            <a:xfrm>
              <a:off x="5634445" y="3396343"/>
              <a:ext cx="1924594" cy="26125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Node 1</a:t>
              </a:r>
              <a:endParaRPr lang="en-GB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94F066B-F12C-482F-90AE-ED837665C559}"/>
                </a:ext>
              </a:extLst>
            </p:cNvPr>
            <p:cNvSpPr/>
            <p:nvPr/>
          </p:nvSpPr>
          <p:spPr>
            <a:xfrm>
              <a:off x="5913119" y="4121331"/>
              <a:ext cx="1358537" cy="13977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rgbClr val="2C3A8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POD</a:t>
              </a:r>
            </a:p>
            <a:p>
              <a:pPr algn="ctr"/>
              <a:endParaRPr lang="en-US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GB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1E24DF5-E5D0-4295-B54A-D38CC67D168E}"/>
              </a:ext>
            </a:extLst>
          </p:cNvPr>
          <p:cNvSpPr/>
          <p:nvPr/>
        </p:nvSpPr>
        <p:spPr>
          <a:xfrm>
            <a:off x="6815311" y="2214534"/>
            <a:ext cx="3004457" cy="506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 Client</a:t>
            </a:r>
            <a:endParaRPr lang="en-GB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3DFBF-4F6A-4328-88B5-D9D7197AF3EF}"/>
              </a:ext>
            </a:extLst>
          </p:cNvPr>
          <p:cNvSpPr/>
          <p:nvPr/>
        </p:nvSpPr>
        <p:spPr>
          <a:xfrm>
            <a:off x="114883" y="2344779"/>
            <a:ext cx="3632900" cy="3918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Service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my-svc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0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endParaRPr lang="en-GB" sz="2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ports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30163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port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8080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targetPort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80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selector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my-app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375972-5A06-4EEC-92F3-459E8AA4F610}"/>
              </a:ext>
            </a:extLst>
          </p:cNvPr>
          <p:cNvSpPr/>
          <p:nvPr/>
        </p:nvSpPr>
        <p:spPr>
          <a:xfrm>
            <a:off x="569717" y="863414"/>
            <a:ext cx="10001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r>
              <a:rPr lang="en-US" b="1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 reserves a port on every Node (same port across all nodes) so the service can be accessed on this port via the Node’s IP address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3CD3AF-14F0-4018-8EEF-E8A4F698A2A8}"/>
              </a:ext>
            </a:extLst>
          </p:cNvPr>
          <p:cNvSpPr/>
          <p:nvPr/>
        </p:nvSpPr>
        <p:spPr>
          <a:xfrm>
            <a:off x="6126478" y="5081451"/>
            <a:ext cx="674966" cy="5798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</a:p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2E677E-2628-406A-BBFA-6A04F4FF9730}"/>
              </a:ext>
            </a:extLst>
          </p:cNvPr>
          <p:cNvSpPr/>
          <p:nvPr/>
        </p:nvSpPr>
        <p:spPr>
          <a:xfrm>
            <a:off x="5990435" y="5079969"/>
            <a:ext cx="149108" cy="11905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963967-280A-46BD-933D-8E460B305A0D}"/>
              </a:ext>
            </a:extLst>
          </p:cNvPr>
          <p:cNvSpPr/>
          <p:nvPr/>
        </p:nvSpPr>
        <p:spPr>
          <a:xfrm>
            <a:off x="5659506" y="4487786"/>
            <a:ext cx="149108" cy="11905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894B23-BF0B-4DFB-94F5-679B0F472030}"/>
              </a:ext>
            </a:extLst>
          </p:cNvPr>
          <p:cNvSpPr/>
          <p:nvPr/>
        </p:nvSpPr>
        <p:spPr>
          <a:xfrm>
            <a:off x="6142835" y="3664824"/>
            <a:ext cx="149108" cy="11905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556320-5B9E-4747-9A33-8BA50D868AFC}"/>
              </a:ext>
            </a:extLst>
          </p:cNvPr>
          <p:cNvSpPr txBox="1"/>
          <p:nvPr/>
        </p:nvSpPr>
        <p:spPr>
          <a:xfrm>
            <a:off x="5108784" y="3384654"/>
            <a:ext cx="988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 30163</a:t>
            </a:r>
            <a:endParaRPr lang="en-GB" sz="1400" b="1" dirty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A25F8E-7F5D-400A-9258-A129DC431B5F}"/>
              </a:ext>
            </a:extLst>
          </p:cNvPr>
          <p:cNvSpPr txBox="1"/>
          <p:nvPr/>
        </p:nvSpPr>
        <p:spPr>
          <a:xfrm>
            <a:off x="4598728" y="4393423"/>
            <a:ext cx="90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 8080</a:t>
            </a:r>
            <a:endParaRPr lang="en-GB" sz="1400" b="1" dirty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1832E5-D950-4A06-B2E7-5AD68BE6430C}"/>
              </a:ext>
            </a:extLst>
          </p:cNvPr>
          <p:cNvSpPr txBox="1"/>
          <p:nvPr/>
        </p:nvSpPr>
        <p:spPr>
          <a:xfrm>
            <a:off x="5340496" y="5217464"/>
            <a:ext cx="723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 80</a:t>
            </a:r>
            <a:endParaRPr lang="en-GB" sz="1400" b="1" dirty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254FBBD-E8D7-4ED4-8ABD-6E0390B9BA4F}"/>
              </a:ext>
            </a:extLst>
          </p:cNvPr>
          <p:cNvGrpSpPr/>
          <p:nvPr/>
        </p:nvGrpSpPr>
        <p:grpSpPr>
          <a:xfrm>
            <a:off x="9359594" y="3734490"/>
            <a:ext cx="1924594" cy="2612570"/>
            <a:chOff x="5634445" y="3396343"/>
            <a:chExt cx="1924594" cy="2612570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3C2835F-4923-4E81-8133-9D2AB9E7C3FE}"/>
                </a:ext>
              </a:extLst>
            </p:cNvPr>
            <p:cNvSpPr/>
            <p:nvPr/>
          </p:nvSpPr>
          <p:spPr>
            <a:xfrm>
              <a:off x="5634445" y="3396343"/>
              <a:ext cx="1924594" cy="261257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Node 2</a:t>
              </a:r>
              <a:endParaRPr lang="en-GB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AD4581-7D4B-4CAE-ACB4-337FF826CB0E}"/>
                </a:ext>
              </a:extLst>
            </p:cNvPr>
            <p:cNvSpPr/>
            <p:nvPr/>
          </p:nvSpPr>
          <p:spPr>
            <a:xfrm>
              <a:off x="5913119" y="4121331"/>
              <a:ext cx="1358537" cy="13977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rgbClr val="2C3A8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POD</a:t>
              </a:r>
            </a:p>
            <a:p>
              <a:pPr algn="ctr"/>
              <a:endParaRPr lang="en-US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GB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EB14443C-3589-4540-AC51-48E89D98B2D3}"/>
              </a:ext>
            </a:extLst>
          </p:cNvPr>
          <p:cNvSpPr/>
          <p:nvPr/>
        </p:nvSpPr>
        <p:spPr>
          <a:xfrm>
            <a:off x="9988735" y="5050969"/>
            <a:ext cx="674966" cy="5798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</a:p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C15F74-48BE-40E5-9A7F-26AB97783713}"/>
              </a:ext>
            </a:extLst>
          </p:cNvPr>
          <p:cNvSpPr/>
          <p:nvPr/>
        </p:nvSpPr>
        <p:spPr>
          <a:xfrm>
            <a:off x="9852692" y="5049487"/>
            <a:ext cx="149108" cy="11905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CF2852-13EF-490D-8615-00E20824DBA5}"/>
              </a:ext>
            </a:extLst>
          </p:cNvPr>
          <p:cNvSpPr/>
          <p:nvPr/>
        </p:nvSpPr>
        <p:spPr>
          <a:xfrm>
            <a:off x="9521763" y="4457304"/>
            <a:ext cx="149108" cy="11905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7E8398-EAAE-4A75-AAA0-6B3D7081964C}"/>
              </a:ext>
            </a:extLst>
          </p:cNvPr>
          <p:cNvSpPr/>
          <p:nvPr/>
        </p:nvSpPr>
        <p:spPr>
          <a:xfrm>
            <a:off x="10005092" y="3634342"/>
            <a:ext cx="149108" cy="11905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223CE0-6023-4545-953D-22B0A5A5C080}"/>
              </a:ext>
            </a:extLst>
          </p:cNvPr>
          <p:cNvSpPr txBox="1"/>
          <p:nvPr/>
        </p:nvSpPr>
        <p:spPr>
          <a:xfrm>
            <a:off x="9960030" y="3248653"/>
            <a:ext cx="988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 30163</a:t>
            </a:r>
            <a:endParaRPr lang="en-GB" sz="1400" b="1" dirty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7CB04B-BFE1-427F-94E7-52BFF5EA4684}"/>
              </a:ext>
            </a:extLst>
          </p:cNvPr>
          <p:cNvSpPr txBox="1"/>
          <p:nvPr/>
        </p:nvSpPr>
        <p:spPr>
          <a:xfrm>
            <a:off x="9366599" y="4203212"/>
            <a:ext cx="90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 8080</a:t>
            </a:r>
            <a:endParaRPr lang="en-GB" sz="1400" b="1" dirty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04D8DC-8B6A-41E5-B8EF-20472336B6DE}"/>
              </a:ext>
            </a:extLst>
          </p:cNvPr>
          <p:cNvSpPr txBox="1"/>
          <p:nvPr/>
        </p:nvSpPr>
        <p:spPr>
          <a:xfrm>
            <a:off x="9202753" y="5186982"/>
            <a:ext cx="723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 80</a:t>
            </a:r>
            <a:endParaRPr lang="en-GB" sz="1400" b="1" dirty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D7774F5D-A87F-4CCF-AFC1-083CD1893E9A}"/>
              </a:ext>
            </a:extLst>
          </p:cNvPr>
          <p:cNvSpPr/>
          <p:nvPr/>
        </p:nvSpPr>
        <p:spPr>
          <a:xfrm>
            <a:off x="7086632" y="3802744"/>
            <a:ext cx="2697487" cy="1002929"/>
          </a:xfrm>
          <a:prstGeom prst="cloud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Service: my-svc</a:t>
            </a:r>
          </a:p>
          <a:p>
            <a:pPr algn="ctr"/>
            <a:r>
              <a:rPr lang="en-US" sz="1200" b="1" dirty="0">
                <a:solidFill>
                  <a:srgbClr val="2C3A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10.112.234.134: 8080</a:t>
            </a:r>
            <a:endParaRPr lang="en-GB" sz="1200" b="1" dirty="0">
              <a:solidFill>
                <a:srgbClr val="2C3A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sz="1200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F238A9-811E-4C31-9383-CE63792B4C35}"/>
              </a:ext>
            </a:extLst>
          </p:cNvPr>
          <p:cNvCxnSpPr>
            <a:stCxn id="16" idx="2"/>
          </p:cNvCxnSpPr>
          <p:nvPr/>
        </p:nvCxnSpPr>
        <p:spPr>
          <a:xfrm flipH="1">
            <a:off x="6426926" y="2720732"/>
            <a:ext cx="1890614" cy="913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684E1DA-3706-470D-BAC2-8976BD214598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8469940" y="2711012"/>
            <a:ext cx="1609706" cy="923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B954FB7-88E6-47B1-978F-1C11EABB8C9F}"/>
              </a:ext>
            </a:extLst>
          </p:cNvPr>
          <p:cNvCxnSpPr>
            <a:stCxn id="2" idx="0"/>
          </p:cNvCxnSpPr>
          <p:nvPr/>
        </p:nvCxnSpPr>
        <p:spPr>
          <a:xfrm>
            <a:off x="6459634" y="3764972"/>
            <a:ext cx="674914" cy="258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1D6D223-8394-412A-86A3-837373607A70}"/>
              </a:ext>
            </a:extLst>
          </p:cNvPr>
          <p:cNvCxnSpPr/>
          <p:nvPr/>
        </p:nvCxnSpPr>
        <p:spPr>
          <a:xfrm flipH="1">
            <a:off x="9458040" y="3802725"/>
            <a:ext cx="453169" cy="309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05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Type </a:t>
            </a:r>
            <a:r>
              <a:rPr lang="en-US" sz="2850" dirty="0" err="1">
                <a:solidFill>
                  <a:schemeClr val="tx2"/>
                </a:solidFill>
              </a:rPr>
              <a:t>LoadBalancer</a:t>
            </a:r>
            <a:endParaRPr lang="en-US" sz="2850" dirty="0">
              <a:solidFill>
                <a:schemeClr val="tx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3DFBF-4F6A-4328-88B5-D9D7197AF3EF}"/>
              </a:ext>
            </a:extLst>
          </p:cNvPr>
          <p:cNvSpPr/>
          <p:nvPr/>
        </p:nvSpPr>
        <p:spPr>
          <a:xfrm>
            <a:off x="794151" y="1999796"/>
            <a:ext cx="4065231" cy="37098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Service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my-svc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0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LoadBalancer</a:t>
            </a:r>
            <a:endParaRPr lang="en-GB" sz="2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ports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8080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targetPort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80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selector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my-app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375972-5A06-4EEC-92F3-459E8AA4F610}"/>
              </a:ext>
            </a:extLst>
          </p:cNvPr>
          <p:cNvSpPr/>
          <p:nvPr/>
        </p:nvSpPr>
        <p:spPr>
          <a:xfrm>
            <a:off x="569717" y="863414"/>
            <a:ext cx="100012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LoadBlancer</a:t>
            </a:r>
            <a:r>
              <a:rPr lang="en-US" b="1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 type creates a load balancer for the service for external clients to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Should be supported by the Cloud Provider /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 err="1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NodePort</a:t>
            </a: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dirty="0" err="1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ClusterIP</a:t>
            </a: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objects are created underneath</a:t>
            </a:r>
            <a:r>
              <a:rPr lang="en-US" b="1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843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Type </a:t>
            </a:r>
            <a:r>
              <a:rPr lang="en-US" sz="2850" dirty="0" err="1">
                <a:solidFill>
                  <a:schemeClr val="tx2"/>
                </a:solidFill>
              </a:rPr>
              <a:t>ExternalName</a:t>
            </a:r>
            <a:endParaRPr lang="en-US" sz="2850" dirty="0">
              <a:solidFill>
                <a:schemeClr val="tx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3DFBF-4F6A-4328-88B5-D9D7197AF3EF}"/>
              </a:ext>
            </a:extLst>
          </p:cNvPr>
          <p:cNvSpPr/>
          <p:nvPr/>
        </p:nvSpPr>
        <p:spPr>
          <a:xfrm>
            <a:off x="794151" y="2808515"/>
            <a:ext cx="4901255" cy="32265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Service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my-service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namespace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prod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0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ExternalName</a:t>
            </a:r>
            <a:endParaRPr lang="en-GB" sz="2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externalName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my.database.example.com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375972-5A06-4EEC-92F3-459E8AA4F610}"/>
              </a:ext>
            </a:extLst>
          </p:cNvPr>
          <p:cNvSpPr/>
          <p:nvPr/>
        </p:nvSpPr>
        <p:spPr>
          <a:xfrm>
            <a:off x="569717" y="863414"/>
            <a:ext cx="10001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externalName</a:t>
            </a:r>
            <a:r>
              <a:rPr lang="en-US" b="1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 to be a DNS and you cannot specify port on the manifest. You need to know the port while invoking the service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2487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Alternate approach to invoke external services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3DFBF-4F6A-4328-88B5-D9D7197AF3EF}"/>
              </a:ext>
            </a:extLst>
          </p:cNvPr>
          <p:cNvSpPr/>
          <p:nvPr/>
        </p:nvSpPr>
        <p:spPr>
          <a:xfrm>
            <a:off x="794151" y="2246811"/>
            <a:ext cx="4901255" cy="32265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kind: 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</a:t>
            </a:r>
          </a:p>
          <a:p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metadata: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name: </a:t>
            </a:r>
            <a:r>
              <a:rPr lang="en-GB" sz="2000" dirty="0">
                <a:solidFill>
                  <a:srgbClr val="00206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demo</a:t>
            </a:r>
            <a:r>
              <a:rPr lang="en-GB" sz="2000" b="1" dirty="0">
                <a:solidFill>
                  <a:srgbClr val="00206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GB" sz="2000" dirty="0" err="1">
                <a:solidFill>
                  <a:srgbClr val="00206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ext</a:t>
            </a:r>
            <a:r>
              <a:rPr lang="en-GB" sz="2000" dirty="0">
                <a:solidFill>
                  <a:srgbClr val="00206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-service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spec: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type: </a:t>
            </a:r>
            <a:r>
              <a:rPr lang="en-GB" sz="20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ClusterIP</a:t>
            </a:r>
            <a:endParaRPr lang="en-GB" sz="2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ports: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- port: 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8080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targetPort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8222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375972-5A06-4EEC-92F3-459E8AA4F610}"/>
              </a:ext>
            </a:extLst>
          </p:cNvPr>
          <p:cNvSpPr/>
          <p:nvPr/>
        </p:nvSpPr>
        <p:spPr>
          <a:xfrm>
            <a:off x="569716" y="863414"/>
            <a:ext cx="103116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a manual endpoint for the external service and link to a Service object as shown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advantage is that you can specify IP and Port</a:t>
            </a:r>
            <a:endParaRPr lang="en-GB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F49B5D-0E3B-4EAD-A27C-422AE9E32567}"/>
              </a:ext>
            </a:extLst>
          </p:cNvPr>
          <p:cNvSpPr/>
          <p:nvPr/>
        </p:nvSpPr>
        <p:spPr>
          <a:xfrm>
            <a:off x="5847806" y="2242456"/>
            <a:ext cx="4901255" cy="32265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Endpoints</a:t>
            </a:r>
          </a:p>
          <a:p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000" dirty="0">
                <a:solidFill>
                  <a:srgbClr val="00206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demo-</a:t>
            </a:r>
            <a:r>
              <a:rPr lang="en-GB" sz="2000" dirty="0" err="1">
                <a:solidFill>
                  <a:srgbClr val="00206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ext</a:t>
            </a:r>
            <a:r>
              <a:rPr lang="en-GB" sz="2000" dirty="0">
                <a:solidFill>
                  <a:srgbClr val="00206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-service</a:t>
            </a:r>
          </a:p>
          <a:p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subsets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-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addresses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- </a:t>
            </a:r>
            <a:r>
              <a:rPr lang="en-GB" sz="20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107.170.221.32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ports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- </a:t>
            </a:r>
            <a:r>
              <a:rPr lang="en-GB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</a:t>
            </a:r>
            <a:r>
              <a:rPr lang="en-GB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8222</a:t>
            </a:r>
          </a:p>
        </p:txBody>
      </p:sp>
    </p:spTree>
    <p:extLst>
      <p:ext uri="{BB962C8B-B14F-4D97-AF65-F5344CB8AC3E}">
        <p14:creationId xmlns:p14="http://schemas.microsoft.com/office/powerpoint/2010/main" val="2931124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Ingress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375972-5A06-4EEC-92F3-459E8AA4F610}"/>
              </a:ext>
            </a:extLst>
          </p:cNvPr>
          <p:cNvSpPr/>
          <p:nvPr/>
        </p:nvSpPr>
        <p:spPr>
          <a:xfrm>
            <a:off x="569716" y="863414"/>
            <a:ext cx="1031164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Ingress is an API object that provides routing rules to manage external users' access to the services in a Kubernetes cluster, typically via HTTPS/HTTP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 for content-based routing, load balancing rules and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Comprises Ingress API object and Ingress Controller (runs as a POD itself)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Advantages for using in production environment –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Avoids the use of multiple load balancers (one for each service) and hence the savings on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 on traffic routing rules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Ingress is part of the Kubernetes cluster and hence internally managed</a:t>
            </a:r>
          </a:p>
          <a:p>
            <a:pPr lvl="1"/>
            <a:endParaRPr lang="en-US" sz="2400" dirty="0">
              <a:solidFill>
                <a:srgbClr val="20212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0225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Canary deployments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637299"/>
            <a:ext cx="11013937" cy="11173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single service is created on top of two deployments representing different versions of the application and traffic to each version is controlled based on the number of replicas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0936AB-A35E-4E79-B2DB-AA3F06FDA437}"/>
              </a:ext>
            </a:extLst>
          </p:cNvPr>
          <p:cNvSpPr/>
          <p:nvPr/>
        </p:nvSpPr>
        <p:spPr>
          <a:xfrm>
            <a:off x="5068392" y="2037804"/>
            <a:ext cx="1449977" cy="927463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</a:t>
            </a:r>
          </a:p>
          <a:p>
            <a:pPr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App=</a:t>
            </a:r>
            <a:r>
              <a:rPr lang="en-US" sz="14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MyApp</a:t>
            </a:r>
            <a:endParaRPr lang="en-GB" sz="1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5995EE7-EFF7-4C8C-BA62-51749B698744}"/>
              </a:ext>
            </a:extLst>
          </p:cNvPr>
          <p:cNvSpPr/>
          <p:nvPr/>
        </p:nvSpPr>
        <p:spPr>
          <a:xfrm>
            <a:off x="1641566" y="3757749"/>
            <a:ext cx="1449977" cy="92746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pPr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App=</a:t>
            </a:r>
            <a:r>
              <a:rPr lang="en-US" sz="14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MyApp</a:t>
            </a:r>
            <a:endParaRPr lang="en-US" sz="1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101</a:t>
            </a:r>
            <a:endParaRPr lang="en-GB" sz="1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0E0F9C2-58D5-4B20-91C6-DE57771DCC9C}"/>
              </a:ext>
            </a:extLst>
          </p:cNvPr>
          <p:cNvSpPr/>
          <p:nvPr/>
        </p:nvSpPr>
        <p:spPr>
          <a:xfrm>
            <a:off x="3531326" y="3766456"/>
            <a:ext cx="1449977" cy="92746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pPr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App=</a:t>
            </a:r>
            <a:r>
              <a:rPr lang="en-US" sz="14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MyApp</a:t>
            </a:r>
            <a:endParaRPr lang="en-US" sz="1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101</a:t>
            </a:r>
            <a:endParaRPr lang="en-GB" sz="1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372CFE9-8940-4AFD-A240-BD654DFD73BB}"/>
              </a:ext>
            </a:extLst>
          </p:cNvPr>
          <p:cNvSpPr/>
          <p:nvPr/>
        </p:nvSpPr>
        <p:spPr>
          <a:xfrm>
            <a:off x="5438513" y="3766456"/>
            <a:ext cx="1449977" cy="92746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pPr lvl="0"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App=</a:t>
            </a:r>
            <a:r>
              <a:rPr lang="en-US" sz="14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MyApp</a:t>
            </a:r>
            <a:endParaRPr lang="en-US" sz="1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101</a:t>
            </a:r>
            <a:endParaRPr lang="en-GB" sz="1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1DE5E97-02B1-4494-AD19-2EE584E8B8A4}"/>
              </a:ext>
            </a:extLst>
          </p:cNvPr>
          <p:cNvSpPr/>
          <p:nvPr/>
        </p:nvSpPr>
        <p:spPr>
          <a:xfrm>
            <a:off x="7606953" y="3766456"/>
            <a:ext cx="1449977" cy="927463"/>
          </a:xfrm>
          <a:prstGeom prst="round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pPr lvl="0"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App=</a:t>
            </a:r>
            <a:r>
              <a:rPr lang="en-US" sz="1400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MyApp</a:t>
            </a:r>
            <a:endParaRPr lang="en-US" sz="1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102</a:t>
            </a:r>
            <a:endParaRPr lang="en-GB" sz="1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0563B93-7D2E-40BC-A6B7-8DA0393D6D3D}"/>
              </a:ext>
            </a:extLst>
          </p:cNvPr>
          <p:cNvSpPr/>
          <p:nvPr/>
        </p:nvSpPr>
        <p:spPr>
          <a:xfrm>
            <a:off x="3106780" y="5564779"/>
            <a:ext cx="2366559" cy="92746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Deployment</a:t>
            </a:r>
          </a:p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101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DBDF271-6CF1-46E5-8BD1-6BB585EFF95F}"/>
              </a:ext>
            </a:extLst>
          </p:cNvPr>
          <p:cNvSpPr/>
          <p:nvPr/>
        </p:nvSpPr>
        <p:spPr>
          <a:xfrm>
            <a:off x="7112728" y="5586548"/>
            <a:ext cx="2366559" cy="927463"/>
          </a:xfrm>
          <a:prstGeom prst="round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Deployment</a:t>
            </a:r>
          </a:p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102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C0DDED-C1FB-41FF-AFBA-1762D4206CD4}"/>
              </a:ext>
            </a:extLst>
          </p:cNvPr>
          <p:cNvSpPr/>
          <p:nvPr/>
        </p:nvSpPr>
        <p:spPr>
          <a:xfrm>
            <a:off x="2325188" y="4846320"/>
            <a:ext cx="3918857" cy="25707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171936-2399-4E0A-85CE-0C7780FF4EF3}"/>
              </a:ext>
            </a:extLst>
          </p:cNvPr>
          <p:cNvSpPr/>
          <p:nvPr/>
        </p:nvSpPr>
        <p:spPr>
          <a:xfrm>
            <a:off x="6818811" y="4846320"/>
            <a:ext cx="3072005" cy="2745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F23AFF-E1C6-49A7-B387-B427FFD6B779}"/>
              </a:ext>
            </a:extLst>
          </p:cNvPr>
          <p:cNvCxnSpPr>
            <a:stCxn id="37" idx="0"/>
            <a:endCxn id="6" idx="2"/>
          </p:cNvCxnSpPr>
          <p:nvPr/>
        </p:nvCxnSpPr>
        <p:spPr>
          <a:xfrm flipH="1" flipV="1">
            <a:off x="4284617" y="5103398"/>
            <a:ext cx="5443" cy="46138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97C7A54-AF7D-42AD-B96D-A11261D964B8}"/>
              </a:ext>
            </a:extLst>
          </p:cNvPr>
          <p:cNvCxnSpPr/>
          <p:nvPr/>
        </p:nvCxnSpPr>
        <p:spPr>
          <a:xfrm flipH="1" flipV="1">
            <a:off x="8316692" y="5151294"/>
            <a:ext cx="5443" cy="461381"/>
          </a:xfrm>
          <a:prstGeom prst="line">
            <a:avLst/>
          </a:prstGeom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2FEF57E-4DF1-462C-BA46-8836222E2F4B}"/>
              </a:ext>
            </a:extLst>
          </p:cNvPr>
          <p:cNvSpPr/>
          <p:nvPr/>
        </p:nvSpPr>
        <p:spPr>
          <a:xfrm>
            <a:off x="1123404" y="3379101"/>
            <a:ext cx="9257211" cy="1959251"/>
          </a:xfrm>
          <a:prstGeom prst="roundRect">
            <a:avLst/>
          </a:prstGeom>
          <a:noFill/>
          <a:ln>
            <a:solidFill>
              <a:srgbClr val="00B05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D4724A-6F36-4EE6-B5F9-B6F2F27B3125}"/>
              </a:ext>
            </a:extLst>
          </p:cNvPr>
          <p:cNvCxnSpPr>
            <a:cxnSpLocks/>
          </p:cNvCxnSpPr>
          <p:nvPr/>
        </p:nvCxnSpPr>
        <p:spPr>
          <a:xfrm>
            <a:off x="5793381" y="2952204"/>
            <a:ext cx="0" cy="526867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875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Assignment 4 – Exposing services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5929" y="1306749"/>
            <a:ext cx="10169738" cy="10297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Lab Guide titled – “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 Guide – Exposing services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the lab setup as instructed in the document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2073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Storage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36863" y="1828327"/>
            <a:ext cx="4905088" cy="37625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 State and Data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Volumes and types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YAML examples for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emptyDir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EBS volumes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Persistent Volumes and Claims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Storage classes</a:t>
            </a: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3994807" y="1828815"/>
            <a:ext cx="126817" cy="303056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36914" y="2949499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995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POD State and Data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1145347"/>
            <a:ext cx="5675577" cy="55675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PODS are ephemeral so their file system is short lived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Volumes can be used to store data / state for use within PODs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 can have multiple volumes attached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Containers utilize a mount path to access a volume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Kubernetes supports:</a:t>
            </a:r>
          </a:p>
          <a:p>
            <a:pPr lvl="1">
              <a:lnSpc>
                <a:spcPct val="150000"/>
              </a:lnSpc>
            </a:pPr>
            <a:r>
              <a:rPr lang="en-US" sz="1533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Volumes</a:t>
            </a:r>
          </a:p>
          <a:p>
            <a:pPr lvl="1">
              <a:lnSpc>
                <a:spcPct val="150000"/>
              </a:lnSpc>
            </a:pPr>
            <a:r>
              <a:rPr lang="en-US" sz="1533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PersistentVolumes</a:t>
            </a:r>
            <a:endParaRPr lang="en-US" sz="1533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533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PersistentVolumeClaims</a:t>
            </a:r>
            <a:endParaRPr lang="en-US" sz="1533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533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StorageClasses</a:t>
            </a:r>
            <a:endParaRPr lang="en-US" sz="1533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09D1D-52F3-403B-B3F3-2959603C503F}"/>
              </a:ext>
            </a:extLst>
          </p:cNvPr>
          <p:cNvSpPr/>
          <p:nvPr/>
        </p:nvSpPr>
        <p:spPr>
          <a:xfrm>
            <a:off x="7080069" y="2521131"/>
            <a:ext cx="2272937" cy="1619795"/>
          </a:xfrm>
          <a:prstGeom prst="rect">
            <a:avLst/>
          </a:prstGeom>
          <a:solidFill>
            <a:srgbClr val="9BE8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7D3627-BEDA-4A1C-BE83-0CFC99980186}"/>
              </a:ext>
            </a:extLst>
          </p:cNvPr>
          <p:cNvSpPr/>
          <p:nvPr/>
        </p:nvSpPr>
        <p:spPr>
          <a:xfrm>
            <a:off x="7480664" y="3051265"/>
            <a:ext cx="1454331" cy="755469"/>
          </a:xfrm>
          <a:prstGeom prst="rect">
            <a:avLst/>
          </a:prstGeom>
          <a:solidFill>
            <a:srgbClr val="81B9F4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Container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raphic 4" descr="Folder">
            <a:extLst>
              <a:ext uri="{FF2B5EF4-FFF2-40B4-BE49-F238E27FC236}">
                <a16:creationId xmlns:a16="http://schemas.microsoft.com/office/drawing/2014/main" id="{78DC5D09-0653-4C33-BF72-AEBF2E0B0A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8467" y="2732933"/>
            <a:ext cx="1196192" cy="119619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75BB2E-D671-4B93-BEDC-18461978FB89}"/>
              </a:ext>
            </a:extLst>
          </p:cNvPr>
          <p:cNvCxnSpPr>
            <a:stCxn id="2" idx="3"/>
          </p:cNvCxnSpPr>
          <p:nvPr/>
        </p:nvCxnSpPr>
        <p:spPr>
          <a:xfrm flipV="1">
            <a:off x="9353006" y="3331028"/>
            <a:ext cx="81546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63D4EC7-B27F-4B3E-BE5E-86BDB48F1EA4}"/>
              </a:ext>
            </a:extLst>
          </p:cNvPr>
          <p:cNvSpPr txBox="1"/>
          <p:nvPr/>
        </p:nvSpPr>
        <p:spPr>
          <a:xfrm>
            <a:off x="10308489" y="3244333"/>
            <a:ext cx="9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Volume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887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Volumes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1145347"/>
            <a:ext cx="5675577" cy="55675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volume references a storage location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Must have a unique name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Attached to a POD and may or may not be  tied to the POD’s lifetime (depending on the volume type)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volume mount references the volume  by name and defines a mount path</a:t>
            </a:r>
          </a:p>
          <a:p>
            <a:pPr>
              <a:lnSpc>
                <a:spcPct val="150000"/>
              </a:lnSpc>
            </a:pPr>
            <a:endParaRPr lang="en-US" sz="1533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1D668A8-BAEE-452C-98B9-6304A0F1610C}"/>
              </a:ext>
            </a:extLst>
          </p:cNvPr>
          <p:cNvGrpSpPr/>
          <p:nvPr/>
        </p:nvGrpSpPr>
        <p:grpSpPr>
          <a:xfrm>
            <a:off x="1665919" y="4885510"/>
            <a:ext cx="3823632" cy="1407994"/>
            <a:chOff x="7080069" y="2521131"/>
            <a:chExt cx="4284590" cy="161979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2209D1D-52F3-403B-B3F3-2959603C503F}"/>
                </a:ext>
              </a:extLst>
            </p:cNvPr>
            <p:cNvSpPr/>
            <p:nvPr/>
          </p:nvSpPr>
          <p:spPr>
            <a:xfrm>
              <a:off x="7080069" y="2521131"/>
              <a:ext cx="2272937" cy="1619795"/>
            </a:xfrm>
            <a:prstGeom prst="rect">
              <a:avLst/>
            </a:prstGeom>
            <a:solidFill>
              <a:srgbClr val="9BE8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POD</a:t>
              </a:r>
              <a:endPara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97D3627-BEDA-4A1C-BE83-0CFC99980186}"/>
                </a:ext>
              </a:extLst>
            </p:cNvPr>
            <p:cNvSpPr/>
            <p:nvPr/>
          </p:nvSpPr>
          <p:spPr>
            <a:xfrm>
              <a:off x="7480664" y="3051265"/>
              <a:ext cx="1454331" cy="755469"/>
            </a:xfrm>
            <a:prstGeom prst="rect">
              <a:avLst/>
            </a:prstGeom>
            <a:solidFill>
              <a:srgbClr val="81B9F4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Container</a:t>
              </a:r>
              <a:endPara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" name="Graphic 4" descr="Folder">
              <a:extLst>
                <a:ext uri="{FF2B5EF4-FFF2-40B4-BE49-F238E27FC236}">
                  <a16:creationId xmlns:a16="http://schemas.microsoft.com/office/drawing/2014/main" id="{78DC5D09-0653-4C33-BF72-AEBF2E0B0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8467" y="2732933"/>
              <a:ext cx="1196192" cy="1196192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A75BB2E-D671-4B93-BEDC-18461978FB89}"/>
                </a:ext>
              </a:extLst>
            </p:cNvPr>
            <p:cNvCxnSpPr>
              <a:stCxn id="2" idx="3"/>
            </p:cNvCxnSpPr>
            <p:nvPr/>
          </p:nvCxnSpPr>
          <p:spPr>
            <a:xfrm flipV="1">
              <a:off x="9353006" y="3331028"/>
              <a:ext cx="815461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63D4EC7-B27F-4B3E-BE5E-86BDB48F1EA4}"/>
                </a:ext>
              </a:extLst>
            </p:cNvPr>
            <p:cNvSpPr txBox="1"/>
            <p:nvPr/>
          </p:nvSpPr>
          <p:spPr>
            <a:xfrm>
              <a:off x="10308489" y="3244333"/>
              <a:ext cx="9161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Volume</a:t>
              </a:r>
              <a:endParaRPr lang="en-GB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86D92106-70AD-4751-8D1E-46E151C8A34A}"/>
              </a:ext>
            </a:extLst>
          </p:cNvPr>
          <p:cNvSpPr txBox="1">
            <a:spLocks/>
          </p:cNvSpPr>
          <p:nvPr/>
        </p:nvSpPr>
        <p:spPr>
          <a:xfrm>
            <a:off x="6247455" y="561974"/>
            <a:ext cx="5320128" cy="5441035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1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 Types</a:t>
            </a:r>
          </a:p>
          <a:p>
            <a:pPr>
              <a:lnSpc>
                <a:spcPct val="150000"/>
              </a:lnSpc>
            </a:pPr>
            <a:r>
              <a:rPr lang="en-US" sz="18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emptyDir</a:t>
            </a: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Empty directory used for storing “transient data” (POD’s lifetime). Useful to share data between containers</a:t>
            </a:r>
          </a:p>
          <a:p>
            <a:pPr>
              <a:lnSpc>
                <a:spcPct val="150000"/>
              </a:lnSpc>
            </a:pPr>
            <a:r>
              <a:rPr lang="en-US" sz="18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hostPath</a:t>
            </a: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PODs mount into the Node’s filesystem</a:t>
            </a:r>
          </a:p>
          <a:p>
            <a:pPr>
              <a:lnSpc>
                <a:spcPct val="150000"/>
              </a:lnSpc>
            </a:pPr>
            <a:r>
              <a:rPr lang="en-US" sz="18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nfs</a:t>
            </a: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An NFS (Network file system) mounted into the POD</a:t>
            </a:r>
          </a:p>
          <a:p>
            <a:pPr>
              <a:lnSpc>
                <a:spcPct val="150000"/>
              </a:lnSpc>
            </a:pPr>
            <a:r>
              <a:rPr lang="en-US" sz="18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en-US" sz="1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secret</a:t>
            </a: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Special type of volumes (discussed later)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Cloud based</a:t>
            </a:r>
          </a:p>
          <a:p>
            <a:pPr>
              <a:lnSpc>
                <a:spcPct val="150000"/>
              </a:lnSpc>
            </a:pPr>
            <a:r>
              <a:rPr lang="en-US" sz="18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persistentVolumeClaim</a:t>
            </a: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Provides PODs with a more persistent storage option with details being abstracted</a:t>
            </a:r>
            <a:endParaRPr lang="en-US" sz="1533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2FE99A-1F86-48EF-88AA-D2BD42E3350E}"/>
              </a:ext>
            </a:extLst>
          </p:cNvPr>
          <p:cNvSpPr/>
          <p:nvPr/>
        </p:nvSpPr>
        <p:spPr>
          <a:xfrm>
            <a:off x="6136861" y="1145347"/>
            <a:ext cx="45719" cy="45673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1699676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Volume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DE633-24AD-4801-BE33-B2872BDDA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969440"/>
            <a:ext cx="11109967" cy="491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555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E.g. of </a:t>
            </a:r>
            <a:r>
              <a:rPr lang="en-US" sz="2850" dirty="0" err="1">
                <a:solidFill>
                  <a:schemeClr val="tx2"/>
                </a:solidFill>
              </a:rPr>
              <a:t>emptyDir</a:t>
            </a:r>
            <a:r>
              <a:rPr lang="en-US" sz="2850" dirty="0">
                <a:solidFill>
                  <a:schemeClr val="tx2"/>
                </a:solidFill>
              </a:rPr>
              <a:t> volume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DECCF-EEEB-438F-8C71-7F408B761403}"/>
              </a:ext>
            </a:extLst>
          </p:cNvPr>
          <p:cNvSpPr/>
          <p:nvPr/>
        </p:nvSpPr>
        <p:spPr>
          <a:xfrm>
            <a:off x="927463" y="771170"/>
            <a:ext cx="6453051" cy="5956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b="1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Pod</a:t>
            </a:r>
          </a:p>
          <a:p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volumes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-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html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emptyDir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{}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containers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-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endParaRPr lang="en-GB" dirty="0">
              <a:solidFill>
                <a:schemeClr val="accent3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nginx:alpine</a:t>
            </a:r>
            <a:endParaRPr lang="en-GB" dirty="0">
              <a:solidFill>
                <a:schemeClr val="accent3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volumeMounts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-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html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mountPath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/</a:t>
            </a:r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usr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/share/</a:t>
            </a:r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/html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readOnly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true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html-updater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alpine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[“/bin/</a:t>
            </a:r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”,”-c”]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- while true: do date &gt;&gt; /html/index.html; sleep 10; done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volumeMounts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-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html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mountPath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/html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B3DFE-84CD-4C97-A1E8-F8396AD0E495}"/>
              </a:ext>
            </a:extLst>
          </p:cNvPr>
          <p:cNvSpPr txBox="1"/>
          <p:nvPr/>
        </p:nvSpPr>
        <p:spPr>
          <a:xfrm>
            <a:off x="7449450" y="1936819"/>
            <a:ext cx="387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Define an empty volume named “html”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48B67C-9706-4E58-AAC4-436E72A95F31}"/>
              </a:ext>
            </a:extLst>
          </p:cNvPr>
          <p:cNvSpPr txBox="1"/>
          <p:nvPr/>
        </p:nvSpPr>
        <p:spPr>
          <a:xfrm>
            <a:off x="7393577" y="3452949"/>
            <a:ext cx="373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Reference the “html” volume and define a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mountPath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DA9EA-7854-4F62-8E5B-A3E3470F2789}"/>
              </a:ext>
            </a:extLst>
          </p:cNvPr>
          <p:cNvSpPr txBox="1"/>
          <p:nvPr/>
        </p:nvSpPr>
        <p:spPr>
          <a:xfrm>
            <a:off x="7449450" y="4922912"/>
            <a:ext cx="3526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Update file in Volume mount /html path with latest date every 10 sec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A1058-4F4C-4B79-A3F2-230D0BDB7D90}"/>
              </a:ext>
            </a:extLst>
          </p:cNvPr>
          <p:cNvSpPr txBox="1"/>
          <p:nvPr/>
        </p:nvSpPr>
        <p:spPr>
          <a:xfrm>
            <a:off x="7393577" y="5995847"/>
            <a:ext cx="373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Reference the “html” volume and define a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mountPath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556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E.g. of AWS volume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DECCF-EEEB-438F-8C71-7F408B761403}"/>
              </a:ext>
            </a:extLst>
          </p:cNvPr>
          <p:cNvSpPr/>
          <p:nvPr/>
        </p:nvSpPr>
        <p:spPr>
          <a:xfrm>
            <a:off x="624418" y="1197775"/>
            <a:ext cx="6453051" cy="43147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b="1" dirty="0" err="1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Pod</a:t>
            </a:r>
          </a:p>
          <a:p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volumes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-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data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awsElasticBlockStore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volumeID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&lt;volume id&gt;</a:t>
            </a:r>
          </a:p>
          <a:p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fsType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ext4</a:t>
            </a:r>
            <a:endParaRPr lang="en-GB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containers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-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my-app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GB" b="1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alpine</a:t>
            </a:r>
          </a:p>
          <a:p>
            <a:r>
              <a:rPr lang="en-GB" dirty="0">
                <a:solidFill>
                  <a:schemeClr val="accent3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volumeMounts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-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data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mountPath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/data/storage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B3DFE-84CD-4C97-A1E8-F8396AD0E495}"/>
              </a:ext>
            </a:extLst>
          </p:cNvPr>
          <p:cNvSpPr txBox="1"/>
          <p:nvPr/>
        </p:nvSpPr>
        <p:spPr>
          <a:xfrm>
            <a:off x="7153392" y="2550774"/>
            <a:ext cx="476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Define volume called “data” which uses AWS EBS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685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Persistent Volumes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86D92106-70AD-4751-8D1E-46E151C8A34A}"/>
              </a:ext>
            </a:extLst>
          </p:cNvPr>
          <p:cNvSpPr txBox="1">
            <a:spLocks/>
          </p:cNvSpPr>
          <p:nvPr/>
        </p:nvSpPr>
        <p:spPr>
          <a:xfrm>
            <a:off x="5383725" y="934610"/>
            <a:ext cx="6144247" cy="55675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Persistent Volume (PV) is a cluster wide storage unit provisioned by an administrator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Lifecycle is independent from the POD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Available to a POD even if it gets rescheduled to a new node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Relies on NFS / Cloud storage etc.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Associated with a POD using a Persistent Volume Claim (PVC) – represents a request for a PV</a:t>
            </a:r>
            <a:endParaRPr lang="en-US" sz="1533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2FE99A-1F86-48EF-88AA-D2BD42E3350E}"/>
              </a:ext>
            </a:extLst>
          </p:cNvPr>
          <p:cNvSpPr/>
          <p:nvPr/>
        </p:nvSpPr>
        <p:spPr>
          <a:xfrm>
            <a:off x="4856701" y="1014719"/>
            <a:ext cx="78484" cy="37793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6" name="Graphic 5" descr="List">
            <a:extLst>
              <a:ext uri="{FF2B5EF4-FFF2-40B4-BE49-F238E27FC236}">
                <a16:creationId xmlns:a16="http://schemas.microsoft.com/office/drawing/2014/main" id="{6C2F3ADB-63AB-42C1-84AB-A316493A6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2194" y="2971800"/>
            <a:ext cx="914400" cy="914400"/>
          </a:xfrm>
          <a:prstGeom prst="rect">
            <a:avLst/>
          </a:prstGeom>
        </p:spPr>
      </p:pic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25B7ED0F-CB0F-4CBB-857D-544A13BCD5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2194" y="4271330"/>
            <a:ext cx="914400" cy="914400"/>
          </a:xfrm>
          <a:prstGeom prst="rect">
            <a:avLst/>
          </a:prstGeom>
        </p:spPr>
      </p:pic>
      <p:pic>
        <p:nvPicPr>
          <p:cNvPr id="17" name="Graphic 16" descr="List">
            <a:extLst>
              <a:ext uri="{FF2B5EF4-FFF2-40B4-BE49-F238E27FC236}">
                <a16:creationId xmlns:a16="http://schemas.microsoft.com/office/drawing/2014/main" id="{F807EFC3-F633-4EB9-86D2-A6C25044A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2194" y="166874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FE8092-09C8-422B-A88D-6427D0767C86}"/>
              </a:ext>
            </a:extLst>
          </p:cNvPr>
          <p:cNvSpPr txBox="1"/>
          <p:nvPr/>
        </p:nvSpPr>
        <p:spPr>
          <a:xfrm>
            <a:off x="839580" y="1941279"/>
            <a:ext cx="561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PVC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C96243-5F62-4EBE-B5CF-23C44CBEFAAF}"/>
              </a:ext>
            </a:extLst>
          </p:cNvPr>
          <p:cNvSpPr txBox="1"/>
          <p:nvPr/>
        </p:nvSpPr>
        <p:spPr>
          <a:xfrm>
            <a:off x="879581" y="3142839"/>
            <a:ext cx="443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PV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BB7692-6C0C-46AD-8CD0-919E65CEB25A}"/>
              </a:ext>
            </a:extLst>
          </p:cNvPr>
          <p:cNvSpPr txBox="1"/>
          <p:nvPr/>
        </p:nvSpPr>
        <p:spPr>
          <a:xfrm>
            <a:off x="879581" y="4517738"/>
            <a:ext cx="907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Storage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5CD5DE-2B16-4AE7-A999-52DE24580F3C}"/>
              </a:ext>
            </a:extLst>
          </p:cNvPr>
          <p:cNvCxnSpPr>
            <a:stCxn id="17" idx="2"/>
            <a:endCxn id="6" idx="0"/>
          </p:cNvCxnSpPr>
          <p:nvPr/>
        </p:nvCxnSpPr>
        <p:spPr>
          <a:xfrm>
            <a:off x="2379394" y="2583145"/>
            <a:ext cx="0" cy="388655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927C03-4DF6-4D42-967A-8E8CD8CDAA55}"/>
              </a:ext>
            </a:extLst>
          </p:cNvPr>
          <p:cNvCxnSpPr/>
          <p:nvPr/>
        </p:nvCxnSpPr>
        <p:spPr>
          <a:xfrm>
            <a:off x="2388101" y="3885077"/>
            <a:ext cx="0" cy="388655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7092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Persistent Volumes - Lifecyle</a:t>
            </a:r>
          </a:p>
        </p:txBody>
      </p:sp>
      <p:pic>
        <p:nvPicPr>
          <p:cNvPr id="6" name="Graphic 5" descr="List">
            <a:extLst>
              <a:ext uri="{FF2B5EF4-FFF2-40B4-BE49-F238E27FC236}">
                <a16:creationId xmlns:a16="http://schemas.microsoft.com/office/drawing/2014/main" id="{6C2F3ADB-63AB-42C1-84AB-A316493A6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4809" y="2639875"/>
            <a:ext cx="914400" cy="914400"/>
          </a:xfrm>
          <a:prstGeom prst="rect">
            <a:avLst/>
          </a:prstGeom>
        </p:spPr>
      </p:pic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25B7ED0F-CB0F-4CBB-857D-544A13BCD5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59283" y="4645933"/>
            <a:ext cx="914400" cy="914400"/>
          </a:xfrm>
          <a:prstGeom prst="rect">
            <a:avLst/>
          </a:prstGeom>
        </p:spPr>
      </p:pic>
      <p:pic>
        <p:nvPicPr>
          <p:cNvPr id="17" name="Graphic 16" descr="List">
            <a:extLst>
              <a:ext uri="{FF2B5EF4-FFF2-40B4-BE49-F238E27FC236}">
                <a16:creationId xmlns:a16="http://schemas.microsoft.com/office/drawing/2014/main" id="{F807EFC3-F633-4EB9-86D2-A6C25044A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3794" y="2633387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FE8092-09C8-422B-A88D-6427D0767C86}"/>
              </a:ext>
            </a:extLst>
          </p:cNvPr>
          <p:cNvSpPr txBox="1"/>
          <p:nvPr/>
        </p:nvSpPr>
        <p:spPr>
          <a:xfrm>
            <a:off x="3470340" y="3660317"/>
            <a:ext cx="561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PVC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C96243-5F62-4EBE-B5CF-23C44CBEFAAF}"/>
              </a:ext>
            </a:extLst>
          </p:cNvPr>
          <p:cNvSpPr txBox="1"/>
          <p:nvPr/>
        </p:nvSpPr>
        <p:spPr>
          <a:xfrm>
            <a:off x="5500410" y="3668070"/>
            <a:ext cx="443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PV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BB7692-6C0C-46AD-8CD0-919E65CEB25A}"/>
              </a:ext>
            </a:extLst>
          </p:cNvPr>
          <p:cNvSpPr txBox="1"/>
          <p:nvPr/>
        </p:nvSpPr>
        <p:spPr>
          <a:xfrm>
            <a:off x="5370980" y="5592748"/>
            <a:ext cx="907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Storage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BE82D8-5CDD-40CB-833A-60BDE501EBD2}"/>
              </a:ext>
            </a:extLst>
          </p:cNvPr>
          <p:cNvGrpSpPr/>
          <p:nvPr/>
        </p:nvGrpSpPr>
        <p:grpSpPr>
          <a:xfrm>
            <a:off x="611356" y="2525882"/>
            <a:ext cx="1804421" cy="1188719"/>
            <a:chOff x="1665919" y="4885510"/>
            <a:chExt cx="1804421" cy="118871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FA0D55A-1A3A-4A54-B570-3C4D50AFA311}"/>
                </a:ext>
              </a:extLst>
            </p:cNvPr>
            <p:cNvSpPr/>
            <p:nvPr/>
          </p:nvSpPr>
          <p:spPr>
            <a:xfrm>
              <a:off x="1665919" y="4885510"/>
              <a:ext cx="1804421" cy="1188719"/>
            </a:xfrm>
            <a:prstGeom prst="rect">
              <a:avLst/>
            </a:prstGeom>
            <a:solidFill>
              <a:srgbClr val="9BE8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POD</a:t>
              </a:r>
              <a:endPara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BFE494-23B5-4F4C-8B96-3D11CC574350}"/>
                </a:ext>
              </a:extLst>
            </p:cNvPr>
            <p:cNvSpPr/>
            <p:nvPr/>
          </p:nvSpPr>
          <p:spPr>
            <a:xfrm>
              <a:off x="2023416" y="5346326"/>
              <a:ext cx="1124733" cy="488862"/>
            </a:xfrm>
            <a:prstGeom prst="rect">
              <a:avLst/>
            </a:prstGeom>
            <a:solidFill>
              <a:srgbClr val="81B9F4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Container</a:t>
              </a:r>
              <a:endPara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026" name="Picture 2" descr="Kubernetes">
            <a:extLst>
              <a:ext uri="{FF2B5EF4-FFF2-40B4-BE49-F238E27FC236}">
                <a16:creationId xmlns:a16="http://schemas.microsoft.com/office/drawing/2014/main" id="{80AB98D5-E1F8-46B8-BAF7-B10F1F679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619" y="3419492"/>
            <a:ext cx="1071563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BCB47D1-B562-43BC-9F67-E59231F9AAA5}"/>
              </a:ext>
            </a:extLst>
          </p:cNvPr>
          <p:cNvSpPr txBox="1"/>
          <p:nvPr/>
        </p:nvSpPr>
        <p:spPr>
          <a:xfrm>
            <a:off x="7418304" y="4502690"/>
            <a:ext cx="1274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Kubernetes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0BB473-D09D-4BB6-A621-B6F3CD6C64A1}"/>
              </a:ext>
            </a:extLst>
          </p:cNvPr>
          <p:cNvCxnSpPr>
            <a:stCxn id="19" idx="3"/>
          </p:cNvCxnSpPr>
          <p:nvPr/>
        </p:nvCxnSpPr>
        <p:spPr>
          <a:xfrm flipV="1">
            <a:off x="2415777" y="3120241"/>
            <a:ext cx="1054563" cy="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8913E0-B6FF-43A9-90BB-37F2555CB40D}"/>
              </a:ext>
            </a:extLst>
          </p:cNvPr>
          <p:cNvCxnSpPr/>
          <p:nvPr/>
        </p:nvCxnSpPr>
        <p:spPr>
          <a:xfrm flipV="1">
            <a:off x="4217218" y="3090586"/>
            <a:ext cx="1054563" cy="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4C89BE7-2DB7-4845-9933-2F30DD50EEF3}"/>
              </a:ext>
            </a:extLst>
          </p:cNvPr>
          <p:cNvCxnSpPr>
            <a:cxnSpLocks/>
          </p:cNvCxnSpPr>
          <p:nvPr/>
        </p:nvCxnSpPr>
        <p:spPr>
          <a:xfrm>
            <a:off x="6200317" y="3176896"/>
            <a:ext cx="1217987" cy="48342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CD9C944-FCFE-43EC-8547-54348A26D036}"/>
              </a:ext>
            </a:extLst>
          </p:cNvPr>
          <p:cNvCxnSpPr>
            <a:cxnSpLocks/>
          </p:cNvCxnSpPr>
          <p:nvPr/>
        </p:nvCxnSpPr>
        <p:spPr>
          <a:xfrm>
            <a:off x="5716483" y="4029650"/>
            <a:ext cx="0" cy="545067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91323EA-5138-4527-8B30-6E062B7EC58C}"/>
              </a:ext>
            </a:extLst>
          </p:cNvPr>
          <p:cNvSpPr txBox="1"/>
          <p:nvPr/>
        </p:nvSpPr>
        <p:spPr>
          <a:xfrm>
            <a:off x="4337401" y="6130063"/>
            <a:ext cx="318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Create N/W storage resource</a:t>
            </a:r>
            <a:endParaRPr lang="en-GB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C11B31-EC3A-4D87-BE91-B3D2BBA4A2CA}"/>
              </a:ext>
            </a:extLst>
          </p:cNvPr>
          <p:cNvSpPr txBox="1"/>
          <p:nvPr/>
        </p:nvSpPr>
        <p:spPr>
          <a:xfrm>
            <a:off x="6378158" y="2665493"/>
            <a:ext cx="4247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Define a PV and send to Kubernetes API</a:t>
            </a:r>
            <a:endParaRPr lang="en-GB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E5891B-60A6-4BF1-9D2E-8DECF3C21C40}"/>
              </a:ext>
            </a:extLst>
          </p:cNvPr>
          <p:cNvSpPr txBox="1"/>
          <p:nvPr/>
        </p:nvSpPr>
        <p:spPr>
          <a:xfrm>
            <a:off x="2699584" y="2126895"/>
            <a:ext cx="2102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Create a PV Claim</a:t>
            </a:r>
            <a:endParaRPr lang="en-GB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CD73AF-4D40-4EDE-8B63-EAB584B460F9}"/>
              </a:ext>
            </a:extLst>
          </p:cNvPr>
          <p:cNvSpPr txBox="1"/>
          <p:nvPr/>
        </p:nvSpPr>
        <p:spPr>
          <a:xfrm>
            <a:off x="4873182" y="2105678"/>
            <a:ext cx="2705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K8S binds the PVC to PV</a:t>
            </a:r>
            <a:endParaRPr lang="en-GB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86A267-0C39-495B-B3C1-755D43851894}"/>
              </a:ext>
            </a:extLst>
          </p:cNvPr>
          <p:cNvSpPr txBox="1"/>
          <p:nvPr/>
        </p:nvSpPr>
        <p:spPr>
          <a:xfrm>
            <a:off x="205609" y="3962414"/>
            <a:ext cx="2676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POD Volume references</a:t>
            </a:r>
          </a:p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PVC</a:t>
            </a:r>
            <a:endParaRPr lang="en-GB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3860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Persistent Volume - YAML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DECCF-EEEB-438F-8C71-7F408B761403}"/>
              </a:ext>
            </a:extLst>
          </p:cNvPr>
          <p:cNvSpPr/>
          <p:nvPr/>
        </p:nvSpPr>
        <p:spPr>
          <a:xfrm>
            <a:off x="624418" y="1541878"/>
            <a:ext cx="4365593" cy="41517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b="1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PersistentVolume</a:t>
            </a:r>
            <a:endParaRPr lang="en-GB" dirty="0">
              <a:solidFill>
                <a:schemeClr val="accent1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</a:t>
            </a:r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pv</a:t>
            </a:r>
            <a:endParaRPr lang="en-GB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capacity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10Gi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accessModes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-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ReadWriteOnce</a:t>
            </a:r>
            <a:endParaRPr lang="en-GB" dirty="0">
              <a:solidFill>
                <a:schemeClr val="accent1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  - </a:t>
            </a:r>
            <a:r>
              <a:rPr lang="en-GB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ReadOnlyMany</a:t>
            </a:r>
            <a:endParaRPr lang="en-GB" dirty="0">
              <a:solidFill>
                <a:schemeClr val="accent1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persistentVolumeReclaimPolicy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Retain</a:t>
            </a:r>
          </a:p>
          <a:p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azureFile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b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secretName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&lt;azure secret&gt;</a:t>
            </a:r>
          </a:p>
          <a:p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b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shareName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&lt;name from Azure&gt;</a:t>
            </a:r>
          </a:p>
          <a:p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b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readOnly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false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B3DFE-84CD-4C97-A1E8-F8396AD0E495}"/>
              </a:ext>
            </a:extLst>
          </p:cNvPr>
          <p:cNvSpPr txBox="1"/>
          <p:nvPr/>
        </p:nvSpPr>
        <p:spPr>
          <a:xfrm>
            <a:off x="5398584" y="1834227"/>
            <a:ext cx="316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Create a Persistent Volume kind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48B67C-9706-4E58-AAC4-436E72A95F31}"/>
              </a:ext>
            </a:extLst>
          </p:cNvPr>
          <p:cNvSpPr txBox="1"/>
          <p:nvPr/>
        </p:nvSpPr>
        <p:spPr>
          <a:xfrm>
            <a:off x="5490022" y="2896090"/>
            <a:ext cx="373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Define storage capacity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DA9EA-7854-4F62-8E5B-A3E3470F2789}"/>
              </a:ext>
            </a:extLst>
          </p:cNvPr>
          <p:cNvSpPr txBox="1"/>
          <p:nvPr/>
        </p:nvSpPr>
        <p:spPr>
          <a:xfrm>
            <a:off x="5533569" y="3429000"/>
            <a:ext cx="3993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One client can mount for read &amp; write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Many clients can mount for read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A1058-4F4C-4B79-A3F2-230D0BDB7D90}"/>
              </a:ext>
            </a:extLst>
          </p:cNvPr>
          <p:cNvSpPr txBox="1"/>
          <p:nvPr/>
        </p:nvSpPr>
        <p:spPr>
          <a:xfrm>
            <a:off x="5533569" y="4100909"/>
            <a:ext cx="373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Retain even after claim is deleted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38DEAC-000F-4FEF-A7FB-9EDC9DD8784F}"/>
              </a:ext>
            </a:extLst>
          </p:cNvPr>
          <p:cNvSpPr txBox="1"/>
          <p:nvPr/>
        </p:nvSpPr>
        <p:spPr>
          <a:xfrm>
            <a:off x="5533569" y="4588153"/>
            <a:ext cx="373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Reference the actual storage to be used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D8C000-3BA7-4378-9250-CC5C8275B875}"/>
              </a:ext>
            </a:extLst>
          </p:cNvPr>
          <p:cNvCxnSpPr/>
          <p:nvPr/>
        </p:nvCxnSpPr>
        <p:spPr>
          <a:xfrm>
            <a:off x="3056709" y="2051655"/>
            <a:ext cx="234187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F3B1A8-72B8-42E2-9A4A-C15141197DB8}"/>
              </a:ext>
            </a:extLst>
          </p:cNvPr>
          <p:cNvCxnSpPr/>
          <p:nvPr/>
        </p:nvCxnSpPr>
        <p:spPr>
          <a:xfrm>
            <a:off x="3056709" y="3092329"/>
            <a:ext cx="234187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688CF5-CEB3-40E2-A6F3-6899CE7520BD}"/>
              </a:ext>
            </a:extLst>
          </p:cNvPr>
          <p:cNvCxnSpPr/>
          <p:nvPr/>
        </p:nvCxnSpPr>
        <p:spPr>
          <a:xfrm>
            <a:off x="3056709" y="3782332"/>
            <a:ext cx="234187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FB88EE-D362-4AD7-8841-E6652D86BB9B}"/>
              </a:ext>
            </a:extLst>
          </p:cNvPr>
          <p:cNvCxnSpPr>
            <a:cxnSpLocks/>
          </p:cNvCxnSpPr>
          <p:nvPr/>
        </p:nvCxnSpPr>
        <p:spPr>
          <a:xfrm>
            <a:off x="4693920" y="4250569"/>
            <a:ext cx="70466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9EBE66-A928-40A3-8452-FFBFCDDC0D78}"/>
              </a:ext>
            </a:extLst>
          </p:cNvPr>
          <p:cNvCxnSpPr>
            <a:cxnSpLocks/>
          </p:cNvCxnSpPr>
          <p:nvPr/>
        </p:nvCxnSpPr>
        <p:spPr>
          <a:xfrm>
            <a:off x="4319085" y="4851461"/>
            <a:ext cx="117093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9876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Persistent Volume Claim - YAML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DECCF-EEEB-438F-8C71-7F408B761403}"/>
              </a:ext>
            </a:extLst>
          </p:cNvPr>
          <p:cNvSpPr/>
          <p:nvPr/>
        </p:nvSpPr>
        <p:spPr>
          <a:xfrm>
            <a:off x="617007" y="1718807"/>
            <a:ext cx="4365593" cy="32521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b="1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PersistentVolumeClaim</a:t>
            </a:r>
            <a:endParaRPr lang="en-GB" dirty="0">
              <a:solidFill>
                <a:schemeClr val="accent1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pv-dd-hdd-5g</a:t>
            </a:r>
          </a:p>
          <a:p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accessModes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en-GB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ReadWriteOnce</a:t>
            </a:r>
            <a:endParaRPr lang="en-GB" dirty="0">
              <a:solidFill>
                <a:schemeClr val="accent1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resources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requests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GB" b="1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storage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5Gi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B3DFE-84CD-4C97-A1E8-F8396AD0E495}"/>
              </a:ext>
            </a:extLst>
          </p:cNvPr>
          <p:cNvSpPr txBox="1"/>
          <p:nvPr/>
        </p:nvSpPr>
        <p:spPr>
          <a:xfrm>
            <a:off x="5339851" y="1969987"/>
            <a:ext cx="3739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Create a Persistent Volume Claim kind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48B67C-9706-4E58-AAC4-436E72A95F31}"/>
              </a:ext>
            </a:extLst>
          </p:cNvPr>
          <p:cNvSpPr txBox="1"/>
          <p:nvPr/>
        </p:nvSpPr>
        <p:spPr>
          <a:xfrm>
            <a:off x="5398583" y="3244334"/>
            <a:ext cx="373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Define access mode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A1058-4F4C-4B79-A3F2-230D0BDB7D90}"/>
              </a:ext>
            </a:extLst>
          </p:cNvPr>
          <p:cNvSpPr txBox="1"/>
          <p:nvPr/>
        </p:nvSpPr>
        <p:spPr>
          <a:xfrm>
            <a:off x="5398584" y="4193454"/>
            <a:ext cx="373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Request storage amount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D9DD1A-C512-49D7-A153-284BE983663D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3513909" y="2154653"/>
            <a:ext cx="1825942" cy="1021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906AA6-76FA-4290-9B6D-4DA8029128E3}"/>
              </a:ext>
            </a:extLst>
          </p:cNvPr>
          <p:cNvCxnSpPr/>
          <p:nvPr/>
        </p:nvCxnSpPr>
        <p:spPr>
          <a:xfrm>
            <a:off x="3056709" y="3472938"/>
            <a:ext cx="234187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D58828-2E1C-4E2C-91B3-0F73D296E2F3}"/>
              </a:ext>
            </a:extLst>
          </p:cNvPr>
          <p:cNvCxnSpPr/>
          <p:nvPr/>
        </p:nvCxnSpPr>
        <p:spPr>
          <a:xfrm>
            <a:off x="3056710" y="4397608"/>
            <a:ext cx="234187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128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Using the PV Claim in a POD YAML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DECCF-EEEB-438F-8C71-7F408B761403}"/>
              </a:ext>
            </a:extLst>
          </p:cNvPr>
          <p:cNvSpPr/>
          <p:nvPr/>
        </p:nvSpPr>
        <p:spPr>
          <a:xfrm>
            <a:off x="672514" y="834296"/>
            <a:ext cx="6864755" cy="5893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Pod</a:t>
            </a:r>
          </a:p>
          <a:p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my-pod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labels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storage</a:t>
            </a:r>
          </a:p>
          <a:p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containers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endParaRPr lang="en-GB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- /bin/</a:t>
            </a:r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</a:t>
            </a:r>
            <a:endParaRPr lang="en-GB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- -c 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- while true; do echo $(date) &gt;&gt; /</a:t>
            </a:r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mnt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blobdisk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outfile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sleep 1; done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GB" b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volumeMounts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en-GB" b="1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blobdisk01</a:t>
            </a:r>
          </a:p>
          <a:p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GB" b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mountPath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/</a:t>
            </a:r>
            <a:r>
              <a:rPr lang="en-GB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mnt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GB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blobdisk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volumes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GB" b="1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blobdisk01 </a:t>
            </a:r>
          </a:p>
          <a:p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GB" b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persistentVolumeClaim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GB" b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claimName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pv-dd-hdd-5g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48B67C-9706-4E58-AAC4-436E72A95F31}"/>
              </a:ext>
            </a:extLst>
          </p:cNvPr>
          <p:cNvSpPr txBox="1"/>
          <p:nvPr/>
        </p:nvSpPr>
        <p:spPr>
          <a:xfrm>
            <a:off x="7971968" y="4659872"/>
            <a:ext cx="373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Mount the volume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A1058-4F4C-4B79-A3F2-230D0BDB7D90}"/>
              </a:ext>
            </a:extLst>
          </p:cNvPr>
          <p:cNvSpPr txBox="1"/>
          <p:nvPr/>
        </p:nvSpPr>
        <p:spPr>
          <a:xfrm>
            <a:off x="7971968" y="5576670"/>
            <a:ext cx="2961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Create a volume that binds to the persistent volume claim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906AA6-76FA-4290-9B6D-4DA8029128E3}"/>
              </a:ext>
            </a:extLst>
          </p:cNvPr>
          <p:cNvCxnSpPr>
            <a:cxnSpLocks/>
          </p:cNvCxnSpPr>
          <p:nvPr/>
        </p:nvCxnSpPr>
        <p:spPr>
          <a:xfrm>
            <a:off x="4019006" y="4844538"/>
            <a:ext cx="383177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D58828-2E1C-4E2C-91B3-0F73D296E2F3}"/>
              </a:ext>
            </a:extLst>
          </p:cNvPr>
          <p:cNvCxnSpPr>
            <a:cxnSpLocks/>
          </p:cNvCxnSpPr>
          <p:nvPr/>
        </p:nvCxnSpPr>
        <p:spPr>
          <a:xfrm>
            <a:off x="3918858" y="5899836"/>
            <a:ext cx="393191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6285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Storage Classes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86D92106-70AD-4751-8D1E-46E151C8A34A}"/>
              </a:ext>
            </a:extLst>
          </p:cNvPr>
          <p:cNvSpPr txBox="1">
            <a:spLocks/>
          </p:cNvSpPr>
          <p:nvPr/>
        </p:nvSpPr>
        <p:spPr>
          <a:xfrm>
            <a:off x="5383725" y="934610"/>
            <a:ext cx="6144247" cy="55675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 to define different “classes” of storage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 as a type of Storage template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 dynamic provisioning of Persistent Volumes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Administrators don’t have to create PVs in advance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PVC references Storage Class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Storage is provisioned dynamically ,PV created and bound to the PVC</a:t>
            </a:r>
            <a:endParaRPr lang="en-US" sz="1533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2FE99A-1F86-48EF-88AA-D2BD42E3350E}"/>
              </a:ext>
            </a:extLst>
          </p:cNvPr>
          <p:cNvSpPr/>
          <p:nvPr/>
        </p:nvSpPr>
        <p:spPr>
          <a:xfrm>
            <a:off x="4856701" y="1014719"/>
            <a:ext cx="78484" cy="37793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6" name="Graphic 5" descr="List">
            <a:extLst>
              <a:ext uri="{FF2B5EF4-FFF2-40B4-BE49-F238E27FC236}">
                <a16:creationId xmlns:a16="http://schemas.microsoft.com/office/drawing/2014/main" id="{6C2F3ADB-63AB-42C1-84AB-A316493A6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921" y="3030360"/>
            <a:ext cx="914400" cy="914400"/>
          </a:xfrm>
          <a:prstGeom prst="rect">
            <a:avLst/>
          </a:prstGeom>
        </p:spPr>
      </p:pic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25B7ED0F-CB0F-4CBB-857D-544A13BCD5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5629" y="3030360"/>
            <a:ext cx="914400" cy="914400"/>
          </a:xfrm>
          <a:prstGeom prst="rect">
            <a:avLst/>
          </a:prstGeom>
        </p:spPr>
      </p:pic>
      <p:pic>
        <p:nvPicPr>
          <p:cNvPr id="17" name="Graphic 16" descr="List">
            <a:extLst>
              <a:ext uri="{FF2B5EF4-FFF2-40B4-BE49-F238E27FC236}">
                <a16:creationId xmlns:a16="http://schemas.microsoft.com/office/drawing/2014/main" id="{F807EFC3-F633-4EB9-86D2-A6C25044A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5501" y="3030360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FE8092-09C8-422B-A88D-6427D0767C86}"/>
              </a:ext>
            </a:extLst>
          </p:cNvPr>
          <p:cNvSpPr txBox="1"/>
          <p:nvPr/>
        </p:nvSpPr>
        <p:spPr>
          <a:xfrm>
            <a:off x="1448356" y="1390965"/>
            <a:ext cx="561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PVC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C96243-5F62-4EBE-B5CF-23C44CBEFAAF}"/>
              </a:ext>
            </a:extLst>
          </p:cNvPr>
          <p:cNvSpPr txBox="1"/>
          <p:nvPr/>
        </p:nvSpPr>
        <p:spPr>
          <a:xfrm>
            <a:off x="2438036" y="2743202"/>
            <a:ext cx="443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PV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BB7692-6C0C-46AD-8CD0-919E65CEB25A}"/>
              </a:ext>
            </a:extLst>
          </p:cNvPr>
          <p:cNvSpPr txBox="1"/>
          <p:nvPr/>
        </p:nvSpPr>
        <p:spPr>
          <a:xfrm>
            <a:off x="3659688" y="2687156"/>
            <a:ext cx="907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Storage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5CD5DE-2B16-4AE7-A999-52DE24580F3C}"/>
              </a:ext>
            </a:extLst>
          </p:cNvPr>
          <p:cNvCxnSpPr>
            <a:cxnSpLocks/>
          </p:cNvCxnSpPr>
          <p:nvPr/>
        </p:nvCxnSpPr>
        <p:spPr>
          <a:xfrm flipV="1">
            <a:off x="1122393" y="3429000"/>
            <a:ext cx="1186786" cy="2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927C03-4DF6-4D42-967A-8E8CD8CDAA55}"/>
              </a:ext>
            </a:extLst>
          </p:cNvPr>
          <p:cNvCxnSpPr>
            <a:cxnSpLocks/>
          </p:cNvCxnSpPr>
          <p:nvPr/>
        </p:nvCxnSpPr>
        <p:spPr>
          <a:xfrm flipH="1" flipV="1">
            <a:off x="2140294" y="2540178"/>
            <a:ext cx="234840" cy="220866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List">
            <a:extLst>
              <a:ext uri="{FF2B5EF4-FFF2-40B4-BE49-F238E27FC236}">
                <a16:creationId xmlns:a16="http://schemas.microsoft.com/office/drawing/2014/main" id="{BA737204-BEA8-4E69-9895-8C73DDCE60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101" y="1745940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CB89F6-F694-4A47-BB4E-AF598AADADF9}"/>
              </a:ext>
            </a:extLst>
          </p:cNvPr>
          <p:cNvSpPr txBox="1"/>
          <p:nvPr/>
        </p:nvSpPr>
        <p:spPr>
          <a:xfrm>
            <a:off x="627309" y="27562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SC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2EA1D4-2F6A-48BA-A7E7-6D0D6B59EE22}"/>
              </a:ext>
            </a:extLst>
          </p:cNvPr>
          <p:cNvCxnSpPr>
            <a:cxnSpLocks/>
          </p:cNvCxnSpPr>
          <p:nvPr/>
        </p:nvCxnSpPr>
        <p:spPr>
          <a:xfrm flipH="1">
            <a:off x="887553" y="2522228"/>
            <a:ext cx="234840" cy="18501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A54BA42-80C4-4AD3-A185-B77F296D92FC}"/>
              </a:ext>
            </a:extLst>
          </p:cNvPr>
          <p:cNvSpPr txBox="1"/>
          <p:nvPr/>
        </p:nvSpPr>
        <p:spPr>
          <a:xfrm>
            <a:off x="1042807" y="3484630"/>
            <a:ext cx="1266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PV</a:t>
            </a:r>
          </a:p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Provisioner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886642-6665-4F47-A372-E1E1FEBE58F7}"/>
              </a:ext>
            </a:extLst>
          </p:cNvPr>
          <p:cNvCxnSpPr>
            <a:cxnSpLocks/>
          </p:cNvCxnSpPr>
          <p:nvPr/>
        </p:nvCxnSpPr>
        <p:spPr>
          <a:xfrm flipV="1">
            <a:off x="3131610" y="3429000"/>
            <a:ext cx="436831" cy="64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9337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Assignment 5 – Using storage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5929" y="1306749"/>
            <a:ext cx="10169738" cy="10297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Lab Guide titled – “</a:t>
            </a:r>
            <a:r>
              <a:rPr lang="en-US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 Guide – Using Storage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the lab setup as instructed in the document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518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 err="1">
                <a:solidFill>
                  <a:schemeClr val="tx2"/>
                </a:solidFill>
              </a:rPr>
              <a:t>ConfigMaps</a:t>
            </a:r>
            <a:r>
              <a:rPr lang="en-US" sz="2850" dirty="0">
                <a:solidFill>
                  <a:schemeClr val="tx2"/>
                </a:solidFill>
              </a:rPr>
              <a:t> and Secrets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36863" y="1828327"/>
            <a:ext cx="4905088" cy="37625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 of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ConfigMaps</a:t>
            </a: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Defining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values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Accessing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ConfigMaps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as Env vars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Accessing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ConfgMap</a:t>
            </a: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through volumes</a:t>
            </a:r>
          </a:p>
          <a:p>
            <a:pPr>
              <a:lnSpc>
                <a:spcPct val="150000"/>
              </a:lnSpc>
            </a:pP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3994807" y="1828815"/>
            <a:ext cx="126817" cy="303056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36914" y="2949499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9505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Overview of </a:t>
            </a:r>
            <a:r>
              <a:rPr lang="en-US" sz="2850" dirty="0" err="1">
                <a:solidFill>
                  <a:schemeClr val="tx2"/>
                </a:solidFill>
              </a:rPr>
              <a:t>ConfigMaps</a:t>
            </a:r>
            <a:endParaRPr lang="en-US" sz="2850" dirty="0">
              <a:solidFill>
                <a:schemeClr val="tx2"/>
              </a:solidFill>
            </a:endParaRP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1145347"/>
            <a:ext cx="5675577" cy="55675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Provides a way to inject configuration data into a container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store entire files or key/value pairs: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Store in a file . Key is filename and value is file contents (can be JSON, XML, key/values etc.)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 through command line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0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manifest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accessed from a POD using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 variable</a:t>
            </a:r>
          </a:p>
          <a:p>
            <a:pPr lvl="1">
              <a:lnSpc>
                <a:spcPct val="150000"/>
              </a:lnSpc>
            </a:pPr>
            <a:r>
              <a:rPr lang="en-US" sz="20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volume (access as file)</a:t>
            </a:r>
          </a:p>
          <a:p>
            <a:pPr lvl="1">
              <a:lnSpc>
                <a:spcPct val="150000"/>
              </a:lnSpc>
            </a:pPr>
            <a:endParaRPr lang="en-US" sz="20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09D1D-52F3-403B-B3F3-2959603C503F}"/>
              </a:ext>
            </a:extLst>
          </p:cNvPr>
          <p:cNvSpPr/>
          <p:nvPr/>
        </p:nvSpPr>
        <p:spPr>
          <a:xfrm>
            <a:off x="6943530" y="2416629"/>
            <a:ext cx="2122093" cy="2664821"/>
          </a:xfrm>
          <a:prstGeom prst="rect">
            <a:avLst/>
          </a:prstGeom>
          <a:solidFill>
            <a:srgbClr val="9BE8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</a:t>
            </a:r>
          </a:p>
          <a:p>
            <a:pPr algn="ctr"/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 variables</a:t>
            </a:r>
          </a:p>
          <a:p>
            <a:pPr algn="ctr"/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</a:t>
            </a:r>
            <a:endParaRPr lang="en-GB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75BB2E-D671-4B93-BEDC-18461978FB89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8785263" y="3489960"/>
            <a:ext cx="1589516" cy="1185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63D4EC7-B27F-4B3E-BE5E-86BDB48F1EA4}"/>
              </a:ext>
            </a:extLst>
          </p:cNvPr>
          <p:cNvSpPr txBox="1"/>
          <p:nvPr/>
        </p:nvSpPr>
        <p:spPr>
          <a:xfrm>
            <a:off x="10216874" y="4090194"/>
            <a:ext cx="1230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2FE99A-1F86-48EF-88AA-D2BD42E3350E}"/>
              </a:ext>
            </a:extLst>
          </p:cNvPr>
          <p:cNvSpPr/>
          <p:nvPr/>
        </p:nvSpPr>
        <p:spPr>
          <a:xfrm>
            <a:off x="6554124" y="1152506"/>
            <a:ext cx="45719" cy="53011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14" name="Graphic 13" descr="List">
            <a:extLst>
              <a:ext uri="{FF2B5EF4-FFF2-40B4-BE49-F238E27FC236}">
                <a16:creationId xmlns:a16="http://schemas.microsoft.com/office/drawing/2014/main" id="{968D0F3D-04F6-4860-B7BF-DBC3B4DC8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4779" y="3151333"/>
            <a:ext cx="914400" cy="91440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8A04135-6CD6-4D92-A8C1-D64543C01533}"/>
              </a:ext>
            </a:extLst>
          </p:cNvPr>
          <p:cNvCxnSpPr>
            <a:cxnSpLocks/>
          </p:cNvCxnSpPr>
          <p:nvPr/>
        </p:nvCxnSpPr>
        <p:spPr>
          <a:xfrm flipV="1">
            <a:off x="8608423" y="3947160"/>
            <a:ext cx="1608451" cy="5123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1454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Defining </a:t>
            </a:r>
            <a:r>
              <a:rPr lang="en-US" sz="2850" dirty="0" err="1">
                <a:solidFill>
                  <a:schemeClr val="tx2"/>
                </a:solidFill>
              </a:rPr>
              <a:t>ConfigMap</a:t>
            </a:r>
            <a:r>
              <a:rPr lang="en-US" sz="2850" dirty="0">
                <a:solidFill>
                  <a:schemeClr val="tx2"/>
                </a:solidFill>
              </a:rPr>
              <a:t> values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865702" y="4183628"/>
            <a:ext cx="2673834" cy="6013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9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kubectl</a:t>
            </a: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create –f </a:t>
            </a:r>
            <a:r>
              <a:rPr lang="en-US" sz="19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file.yml</a:t>
            </a:r>
            <a:endParaRPr lang="en-US" sz="19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4146933" y="1090650"/>
            <a:ext cx="101508" cy="53588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783771" y="921295"/>
            <a:ext cx="1780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Manifest</a:t>
            </a:r>
            <a:endParaRPr lang="en-GB" sz="20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A2BC4-1314-446A-818B-9C66AECBDDD6}"/>
              </a:ext>
            </a:extLst>
          </p:cNvPr>
          <p:cNvSpPr/>
          <p:nvPr/>
        </p:nvSpPr>
        <p:spPr>
          <a:xfrm>
            <a:off x="630374" y="1474231"/>
            <a:ext cx="3171222" cy="2604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b="1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endParaRPr lang="en-GB" dirty="0">
              <a:solidFill>
                <a:schemeClr val="accent1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app-settings</a:t>
            </a:r>
          </a:p>
          <a:p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data: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enemies: aliens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lives: “3”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enemies.cheat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“true”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CFFE9A-B614-414C-A6FC-919AE939EC89}"/>
              </a:ext>
            </a:extLst>
          </p:cNvPr>
          <p:cNvSpPr/>
          <p:nvPr/>
        </p:nvSpPr>
        <p:spPr>
          <a:xfrm>
            <a:off x="4581835" y="1740580"/>
            <a:ext cx="2328416" cy="9895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enemies: aliens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lives=3</a:t>
            </a:r>
          </a:p>
          <a:p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enemies.cheat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EE53E2-5CB2-4587-B7AD-CD04B5CC8707}"/>
              </a:ext>
            </a:extLst>
          </p:cNvPr>
          <p:cNvSpPr txBox="1"/>
          <p:nvPr/>
        </p:nvSpPr>
        <p:spPr>
          <a:xfrm>
            <a:off x="4385435" y="939062"/>
            <a:ext cx="28674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key/values</a:t>
            </a:r>
          </a:p>
          <a:p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a file (</a:t>
            </a:r>
            <a:r>
              <a:rPr lang="en-US" sz="2000" b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game.config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20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7BD59939-45E4-429B-A4A6-D79E507FF5E2}"/>
              </a:ext>
            </a:extLst>
          </p:cNvPr>
          <p:cNvSpPr txBox="1">
            <a:spLocks/>
          </p:cNvSpPr>
          <p:nvPr/>
        </p:nvSpPr>
        <p:spPr>
          <a:xfrm>
            <a:off x="4581835" y="2903739"/>
            <a:ext cx="3187337" cy="989558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1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9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kubectl</a:t>
            </a: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create </a:t>
            </a:r>
            <a:r>
              <a:rPr lang="en-US" sz="19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endParaRPr lang="en-US" sz="19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[cm-name] --from-file=[path to file]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FB278E-35C6-477B-9886-FA4A77D3A5A0}"/>
              </a:ext>
            </a:extLst>
          </p:cNvPr>
          <p:cNvSpPr/>
          <p:nvPr/>
        </p:nvSpPr>
        <p:spPr>
          <a:xfrm>
            <a:off x="4581834" y="3992879"/>
            <a:ext cx="2673834" cy="1792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data: 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game.config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|-</a:t>
            </a:r>
          </a:p>
          <a:p>
            <a:pPr lvl="1"/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enemies: aliens</a:t>
            </a:r>
          </a:p>
          <a:p>
            <a:pPr lvl="1"/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lives=3</a:t>
            </a:r>
          </a:p>
          <a:p>
            <a:pPr lvl="1"/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enemies.cheat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=true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F8640862-13CD-4481-9A66-D18EED7A94E1}"/>
              </a:ext>
            </a:extLst>
          </p:cNvPr>
          <p:cNvSpPr txBox="1">
            <a:spLocks/>
          </p:cNvSpPr>
          <p:nvPr/>
        </p:nvSpPr>
        <p:spPr>
          <a:xfrm>
            <a:off x="4581835" y="5950138"/>
            <a:ext cx="2673834" cy="601364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name is used as the key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9D57E3-BC9C-4D86-88C2-9846EFB396BD}"/>
              </a:ext>
            </a:extLst>
          </p:cNvPr>
          <p:cNvSpPr/>
          <p:nvPr/>
        </p:nvSpPr>
        <p:spPr>
          <a:xfrm>
            <a:off x="7943561" y="939063"/>
            <a:ext cx="126817" cy="54950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F71D76-13DE-4B4F-BE92-91B8CB504082}"/>
              </a:ext>
            </a:extLst>
          </p:cNvPr>
          <p:cNvSpPr/>
          <p:nvPr/>
        </p:nvSpPr>
        <p:spPr>
          <a:xfrm>
            <a:off x="8352656" y="1644783"/>
            <a:ext cx="2328416" cy="9895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enemies: aliens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lives=3</a:t>
            </a:r>
          </a:p>
          <a:p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enemies.cheat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=true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F06033-34BD-4E5E-8469-8F4C77F3FDBA}"/>
              </a:ext>
            </a:extLst>
          </p:cNvPr>
          <p:cNvSpPr txBox="1"/>
          <p:nvPr/>
        </p:nvSpPr>
        <p:spPr>
          <a:xfrm>
            <a:off x="8156256" y="843265"/>
            <a:ext cx="33318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key/values</a:t>
            </a:r>
          </a:p>
          <a:p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a file (</a:t>
            </a:r>
            <a:r>
              <a:rPr lang="en-US" sz="2000" b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game-</a:t>
            </a:r>
            <a:r>
              <a:rPr lang="en-US" sz="2000" b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config.env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20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7B22D707-ED05-4972-82CD-D74D245B1632}"/>
              </a:ext>
            </a:extLst>
          </p:cNvPr>
          <p:cNvSpPr txBox="1">
            <a:spLocks/>
          </p:cNvSpPr>
          <p:nvPr/>
        </p:nvSpPr>
        <p:spPr>
          <a:xfrm>
            <a:off x="8352656" y="2925509"/>
            <a:ext cx="3187337" cy="989558"/>
          </a:xfrm>
          <a:prstGeom prst="rect">
            <a:avLst/>
          </a:prstGeom>
        </p:spPr>
        <p:txBody>
          <a:bodyPr vert="horz" lIns="0" tIns="0" rIns="0" bIns="0" rtlCol="0">
            <a:normAutofit fontScale="775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9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kubectl</a:t>
            </a: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create </a:t>
            </a:r>
            <a:r>
              <a:rPr lang="en-US" sz="19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endParaRPr lang="en-US" sz="19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[cm-name] --from-env-file=[path to file]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1D385A-431B-4D72-B2DF-DD0D38205147}"/>
              </a:ext>
            </a:extLst>
          </p:cNvPr>
          <p:cNvSpPr/>
          <p:nvPr/>
        </p:nvSpPr>
        <p:spPr>
          <a:xfrm>
            <a:off x="8352655" y="4001586"/>
            <a:ext cx="2673834" cy="1792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data: 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enemies: aliens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lives=3</a:t>
            </a:r>
          </a:p>
          <a:p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enemies.cheat</a:t>
            </a:r>
            <a:r>
              <a:rPr lang="en-GB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=true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15CD6F6B-A425-413F-B46D-4A555CBA13E6}"/>
              </a:ext>
            </a:extLst>
          </p:cNvPr>
          <p:cNvSpPr txBox="1">
            <a:spLocks/>
          </p:cNvSpPr>
          <p:nvPr/>
        </p:nvSpPr>
        <p:spPr>
          <a:xfrm>
            <a:off x="8352656" y="5958845"/>
            <a:ext cx="2673834" cy="601364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1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name is not included as key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B0B751-D55D-4F91-B29F-6B96D042231F}"/>
              </a:ext>
            </a:extLst>
          </p:cNvPr>
          <p:cNvSpPr/>
          <p:nvPr/>
        </p:nvSpPr>
        <p:spPr>
          <a:xfrm rot="5400000">
            <a:off x="2151864" y="3148627"/>
            <a:ext cx="101508" cy="31712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140D7D-364D-4141-AE20-C63AA49CFB3E}"/>
              </a:ext>
            </a:extLst>
          </p:cNvPr>
          <p:cNvSpPr txBox="1"/>
          <p:nvPr/>
        </p:nvSpPr>
        <p:spPr>
          <a:xfrm>
            <a:off x="941868" y="4957369"/>
            <a:ext cx="2433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individual data </a:t>
            </a:r>
            <a:endParaRPr lang="en-GB" sz="20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0993B845-DCA0-45E8-9203-A665E8E4BE50}"/>
              </a:ext>
            </a:extLst>
          </p:cNvPr>
          <p:cNvSpPr txBox="1">
            <a:spLocks/>
          </p:cNvSpPr>
          <p:nvPr/>
        </p:nvSpPr>
        <p:spPr>
          <a:xfrm>
            <a:off x="225745" y="5357480"/>
            <a:ext cx="3784193" cy="8343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9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kubectl</a:t>
            </a: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create </a:t>
            </a:r>
            <a:r>
              <a:rPr lang="en-US" sz="19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[cm-name] --from-literal=</a:t>
            </a:r>
            <a:r>
              <a:rPr lang="en-US" sz="19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apiURL</a:t>
            </a: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=http://my-api</a:t>
            </a:r>
          </a:p>
        </p:txBody>
      </p:sp>
    </p:spTree>
    <p:extLst>
      <p:ext uri="{BB962C8B-B14F-4D97-AF65-F5344CB8AC3E}">
        <p14:creationId xmlns:p14="http://schemas.microsoft.com/office/powerpoint/2010/main" val="42052230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Accessing a </a:t>
            </a:r>
            <a:r>
              <a:rPr lang="en-US" sz="2850" dirty="0" err="1">
                <a:solidFill>
                  <a:schemeClr val="tx2"/>
                </a:solidFill>
              </a:rPr>
              <a:t>ConfigMap</a:t>
            </a:r>
            <a:r>
              <a:rPr lang="en-US" sz="2850" dirty="0">
                <a:solidFill>
                  <a:schemeClr val="tx2"/>
                </a:solidFill>
              </a:rPr>
              <a:t>: Environment Vars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DECCF-EEEB-438F-8C71-7F408B761403}"/>
              </a:ext>
            </a:extLst>
          </p:cNvPr>
          <p:cNvSpPr/>
          <p:nvPr/>
        </p:nvSpPr>
        <p:spPr>
          <a:xfrm>
            <a:off x="624418" y="1541878"/>
            <a:ext cx="3111559" cy="30823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22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sz="2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2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endParaRPr lang="en-GB" sz="22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app-settings</a:t>
            </a:r>
          </a:p>
          <a:p>
            <a:r>
              <a:rPr lang="en-GB" sz="2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data:</a:t>
            </a:r>
          </a:p>
          <a:p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enemies: aliens</a:t>
            </a:r>
          </a:p>
          <a:p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lives: “3”</a:t>
            </a:r>
          </a:p>
          <a:p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2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enemies.cheat</a:t>
            </a:r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“true” 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C56AC4-31F1-4384-934C-62DBC5FAE096}"/>
              </a:ext>
            </a:extLst>
          </p:cNvPr>
          <p:cNvSpPr/>
          <p:nvPr/>
        </p:nvSpPr>
        <p:spPr>
          <a:xfrm>
            <a:off x="6168268" y="928388"/>
            <a:ext cx="3494737" cy="29512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9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…</a:t>
            </a:r>
          </a:p>
          <a:p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containers: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en-GB" sz="1900" b="1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1900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ENEMIES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GB" sz="19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valueFrom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GB" sz="19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configMapKeyRef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app-settings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enemies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1CC9D2-15B7-4A53-8A09-AF0283A52A4D}"/>
              </a:ext>
            </a:extLst>
          </p:cNvPr>
          <p:cNvCxnSpPr>
            <a:cxnSpLocks/>
          </p:cNvCxnSpPr>
          <p:nvPr/>
        </p:nvCxnSpPr>
        <p:spPr>
          <a:xfrm flipH="1" flipV="1">
            <a:off x="3056710" y="2821577"/>
            <a:ext cx="3670661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E921DB-7872-4E0D-9571-01CD7AC5B2B0}"/>
              </a:ext>
            </a:extLst>
          </p:cNvPr>
          <p:cNvCxnSpPr>
            <a:cxnSpLocks/>
          </p:cNvCxnSpPr>
          <p:nvPr/>
        </p:nvCxnSpPr>
        <p:spPr>
          <a:xfrm flipH="1" flipV="1">
            <a:off x="2674412" y="3429003"/>
            <a:ext cx="4248902" cy="3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D9FF060-527D-4630-BA5E-2A94ED1708DE}"/>
              </a:ext>
            </a:extLst>
          </p:cNvPr>
          <p:cNvSpPr/>
          <p:nvPr/>
        </p:nvSpPr>
        <p:spPr>
          <a:xfrm>
            <a:off x="4548928" y="4637314"/>
            <a:ext cx="3494737" cy="18283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9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…</a:t>
            </a:r>
          </a:p>
          <a:p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containers: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GB" sz="1900" b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envFrom</a:t>
            </a:r>
            <a:r>
              <a:rPr lang="en-GB" sz="1900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1900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   -  </a:t>
            </a:r>
            <a:r>
              <a:rPr lang="en-GB" sz="1900" b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configMapRef</a:t>
            </a:r>
            <a:r>
              <a:rPr lang="en-GB" sz="1900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1900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GB" sz="1900" b="1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1900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app-settings</a:t>
            </a:r>
          </a:p>
        </p:txBody>
      </p:sp>
      <p:sp>
        <p:nvSpPr>
          <p:cNvPr id="29" name="Content Placeholder 4">
            <a:extLst>
              <a:ext uri="{FF2B5EF4-FFF2-40B4-BE49-F238E27FC236}">
                <a16:creationId xmlns:a16="http://schemas.microsoft.com/office/drawing/2014/main" id="{063A8E8D-7EF0-45DF-8920-C4E654937786}"/>
              </a:ext>
            </a:extLst>
          </p:cNvPr>
          <p:cNvSpPr txBox="1">
            <a:spLocks/>
          </p:cNvSpPr>
          <p:nvPr/>
        </p:nvSpPr>
        <p:spPr>
          <a:xfrm>
            <a:off x="8326088" y="5882901"/>
            <a:ext cx="2673834" cy="601364"/>
          </a:xfrm>
          <a:prstGeom prst="rect">
            <a:avLst/>
          </a:prstGeom>
        </p:spPr>
        <p:txBody>
          <a:bodyPr vert="horz" lIns="0" tIns="0" rIns="0" bIns="0" rtlCol="0">
            <a:normAutofit fontScale="700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 variables are created for all the keys under data</a:t>
            </a:r>
          </a:p>
        </p:txBody>
      </p:sp>
      <p:sp>
        <p:nvSpPr>
          <p:cNvPr id="30" name="Content Placeholder 4">
            <a:extLst>
              <a:ext uri="{FF2B5EF4-FFF2-40B4-BE49-F238E27FC236}">
                <a16:creationId xmlns:a16="http://schemas.microsoft.com/office/drawing/2014/main" id="{3268AA96-AB20-4ACB-AD04-7ECE60337550}"/>
              </a:ext>
            </a:extLst>
          </p:cNvPr>
          <p:cNvSpPr txBox="1">
            <a:spLocks/>
          </p:cNvSpPr>
          <p:nvPr/>
        </p:nvSpPr>
        <p:spPr>
          <a:xfrm>
            <a:off x="9082887" y="3891555"/>
            <a:ext cx="2673834" cy="601364"/>
          </a:xfrm>
          <a:prstGeom prst="rect">
            <a:avLst/>
          </a:prstGeom>
        </p:spPr>
        <p:txBody>
          <a:bodyPr vert="horz" lIns="0" tIns="0" rIns="0" bIns="0" rtlCol="0">
            <a:normAutofit fontScale="77500" lnSpcReduction="2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 variables created to reference specific key/values</a:t>
            </a:r>
          </a:p>
        </p:txBody>
      </p:sp>
    </p:spTree>
    <p:extLst>
      <p:ext uri="{BB962C8B-B14F-4D97-AF65-F5344CB8AC3E}">
        <p14:creationId xmlns:p14="http://schemas.microsoft.com/office/powerpoint/2010/main" val="4483145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290362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Accessing a </a:t>
            </a:r>
            <a:r>
              <a:rPr lang="en-US" sz="2850" dirty="0" err="1">
                <a:solidFill>
                  <a:schemeClr val="tx2"/>
                </a:solidFill>
              </a:rPr>
              <a:t>ConfigMap</a:t>
            </a:r>
            <a:r>
              <a:rPr lang="en-US" sz="2850" dirty="0">
                <a:solidFill>
                  <a:schemeClr val="tx2"/>
                </a:solidFill>
              </a:rPr>
              <a:t>: Volumes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DECCF-EEEB-438F-8C71-7F408B761403}"/>
              </a:ext>
            </a:extLst>
          </p:cNvPr>
          <p:cNvSpPr/>
          <p:nvPr/>
        </p:nvSpPr>
        <p:spPr>
          <a:xfrm>
            <a:off x="624418" y="1541878"/>
            <a:ext cx="3111559" cy="30823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22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sz="2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2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endParaRPr lang="en-GB" sz="22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app-settings</a:t>
            </a:r>
          </a:p>
          <a:p>
            <a:r>
              <a:rPr lang="en-GB" sz="2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data:</a:t>
            </a:r>
          </a:p>
          <a:p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enemies: aliens</a:t>
            </a:r>
          </a:p>
          <a:p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lives: “3”</a:t>
            </a:r>
          </a:p>
          <a:p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22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enemies.cheat</a:t>
            </a:r>
            <a:r>
              <a:rPr lang="en-GB" sz="22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“true” 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C56AC4-31F1-4384-934C-62DBC5FAE096}"/>
              </a:ext>
            </a:extLst>
          </p:cNvPr>
          <p:cNvSpPr/>
          <p:nvPr/>
        </p:nvSpPr>
        <p:spPr>
          <a:xfrm>
            <a:off x="6096000" y="1502691"/>
            <a:ext cx="3494737" cy="38922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9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…</a:t>
            </a:r>
          </a:p>
          <a:p>
            <a:endParaRPr lang="en-GB" sz="19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spec: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volumes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app-config-vol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GB" sz="19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configMap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name: app-settings</a:t>
            </a:r>
          </a:p>
          <a:p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containers: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GB" sz="19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volumeMounts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- </a:t>
            </a:r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app-config-vol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GB" sz="19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mountPath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/etc/config</a:t>
            </a:r>
          </a:p>
        </p:txBody>
      </p:sp>
      <p:sp>
        <p:nvSpPr>
          <p:cNvPr id="30" name="Content Placeholder 4">
            <a:extLst>
              <a:ext uri="{FF2B5EF4-FFF2-40B4-BE49-F238E27FC236}">
                <a16:creationId xmlns:a16="http://schemas.microsoft.com/office/drawing/2014/main" id="{3268AA96-AB20-4ACB-AD04-7ECE60337550}"/>
              </a:ext>
            </a:extLst>
          </p:cNvPr>
          <p:cNvSpPr txBox="1">
            <a:spLocks/>
          </p:cNvSpPr>
          <p:nvPr/>
        </p:nvSpPr>
        <p:spPr>
          <a:xfrm>
            <a:off x="843280" y="5015440"/>
            <a:ext cx="4852126" cy="15521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 Values are loaded through a volume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key is converted to a file and value is added as content of the file</a:t>
            </a:r>
          </a:p>
          <a:p>
            <a:pPr>
              <a:lnSpc>
                <a:spcPct val="150000"/>
              </a:lnSpc>
            </a:pPr>
            <a:endParaRPr lang="en-US" sz="1900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0105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Secrets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1145347"/>
            <a:ext cx="6464912" cy="55675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Kubernetes can store sensitive data (passwords, certificates, keys etc.)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Mount secrets into PODs as files or as environment variables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Kubernetes only makes secrets available to nodes that have a Pod requesting the secret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Secrets are maintained in </a:t>
            </a:r>
            <a:r>
              <a:rPr lang="en-US" sz="20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etcd</a:t>
            </a: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but on the nodes it is stored in the </a:t>
            </a:r>
            <a:r>
              <a:rPr lang="en-US" sz="20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tmpfs</a:t>
            </a:r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(not on disk)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2FE99A-1F86-48EF-88AA-D2BD42E3350E}"/>
              </a:ext>
            </a:extLst>
          </p:cNvPr>
          <p:cNvSpPr/>
          <p:nvPr/>
        </p:nvSpPr>
        <p:spPr>
          <a:xfrm>
            <a:off x="7782033" y="1152506"/>
            <a:ext cx="45719" cy="53011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4" name="Graphic 3" descr="Lock">
            <a:extLst>
              <a:ext uri="{FF2B5EF4-FFF2-40B4-BE49-F238E27FC236}">
                <a16:creationId xmlns:a16="http://schemas.microsoft.com/office/drawing/2014/main" id="{7110CB00-9B70-4326-88B1-95CBEBA64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4697" y="2370908"/>
            <a:ext cx="1890970" cy="189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2749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Good practices for Secrets management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589031" y="1145347"/>
            <a:ext cx="10370706" cy="4693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Enable encryption at rest for Cluster data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 access to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etcd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only admin users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SSL/TLS for peer to peer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etcd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communication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Manifest files (YAML) encode the secret using base64 which is easy to reverse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Pods can access secrets so secure which users are allowed to create Pods</a:t>
            </a:r>
          </a:p>
        </p:txBody>
      </p:sp>
    </p:spTree>
    <p:extLst>
      <p:ext uri="{BB962C8B-B14F-4D97-AF65-F5344CB8AC3E}">
        <p14:creationId xmlns:p14="http://schemas.microsoft.com/office/powerpoint/2010/main" val="3755914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Creating Secrets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195944" y="1145347"/>
            <a:ext cx="6035040" cy="47982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267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 create a secret from literal values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kubectl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create secret  generic my-secret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--from-literal=</a:t>
            </a: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pwd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=my-password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267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 create a secret from a file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kubectl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create secret  generic my-secret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--from-file=</a:t>
            </a: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ssh-privatekey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=~/.</a:t>
            </a: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ssh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/</a:t>
            </a: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id.rsa</a:t>
            </a:r>
            <a:endParaRPr lang="en-US" sz="1900" dirty="0">
              <a:solidFill>
                <a:schemeClr val="tx2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267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 create a secret from a key pair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kubectl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create secret </a:t>
            </a: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tls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tls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-secret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--cert=</a:t>
            </a: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tls.cert</a:t>
            </a:r>
            <a:r>
              <a:rPr lang="en-US" sz="1900" dirty="0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 --key=</a:t>
            </a:r>
            <a:r>
              <a:rPr lang="en-US" sz="1900" dirty="0" err="1">
                <a:solidFill>
                  <a:schemeClr val="tx2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tls.key</a:t>
            </a:r>
            <a:endParaRPr lang="en-US" sz="1900" dirty="0">
              <a:solidFill>
                <a:schemeClr val="tx2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225E50-07EB-4B90-BDA9-1C84189842EF}"/>
              </a:ext>
            </a:extLst>
          </p:cNvPr>
          <p:cNvSpPr/>
          <p:nvPr/>
        </p:nvSpPr>
        <p:spPr>
          <a:xfrm>
            <a:off x="6907652" y="2195022"/>
            <a:ext cx="3718015" cy="2664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9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Secret</a:t>
            </a:r>
          </a:p>
          <a:p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9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db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-passwords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type: Opaque</a:t>
            </a:r>
          </a:p>
          <a:p>
            <a:r>
              <a:rPr lang="en-GB" sz="19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data: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app-password: </a:t>
            </a:r>
            <a:r>
              <a:rPr lang="en-GB" sz="1900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chfgkHGkjs</a:t>
            </a:r>
            <a:r>
              <a:rPr lang="en-GB" sz="1900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</a:p>
          <a:p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admin-password: </a:t>
            </a:r>
            <a:r>
              <a:rPr lang="en-GB" sz="1900" dirty="0" err="1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hgttYThdks</a:t>
            </a:r>
            <a:r>
              <a:rPr lang="en-GB" sz="1900" dirty="0">
                <a:solidFill>
                  <a:schemeClr val="accent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GB" sz="1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D7F5FAD9-BD9B-470D-A047-6A2A2E5B6479}"/>
              </a:ext>
            </a:extLst>
          </p:cNvPr>
          <p:cNvSpPr txBox="1">
            <a:spLocks/>
          </p:cNvSpPr>
          <p:nvPr/>
        </p:nvSpPr>
        <p:spPr>
          <a:xfrm>
            <a:off x="7623538" y="1617704"/>
            <a:ext cx="2286241" cy="57731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YAML Manifest</a:t>
            </a:r>
          </a:p>
        </p:txBody>
      </p:sp>
    </p:spTree>
    <p:extLst>
      <p:ext uri="{BB962C8B-B14F-4D97-AF65-F5344CB8AC3E}">
        <p14:creationId xmlns:p14="http://schemas.microsoft.com/office/powerpoint/2010/main" val="5476524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Other features / topics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4536863" y="1828327"/>
            <a:ext cx="4905088" cy="33315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Jobs and </a:t>
            </a:r>
            <a:r>
              <a:rPr lang="en-US" sz="19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CronJobs</a:t>
            </a:r>
            <a:endParaRPr lang="en-US" sz="19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Stateful sets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quotas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Good practices for development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 environments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58E9E-6C31-4B45-BCED-C0C37C8406E4}"/>
              </a:ext>
            </a:extLst>
          </p:cNvPr>
          <p:cNvSpPr/>
          <p:nvPr/>
        </p:nvSpPr>
        <p:spPr>
          <a:xfrm>
            <a:off x="4089259" y="1828815"/>
            <a:ext cx="126817" cy="34616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D448A-0734-40AF-BAE9-D1972EA50AF7}"/>
              </a:ext>
            </a:extLst>
          </p:cNvPr>
          <p:cNvSpPr txBox="1"/>
          <p:nvPr/>
        </p:nvSpPr>
        <p:spPr>
          <a:xfrm>
            <a:off x="1436914" y="2949499"/>
            <a:ext cx="2052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</a:rPr>
              <a:t>Module Topics</a:t>
            </a:r>
            <a:endParaRPr lang="en-GB" sz="2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8110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Jobs and </a:t>
            </a:r>
            <a:r>
              <a:rPr lang="en-US" sz="2850" dirty="0" err="1">
                <a:solidFill>
                  <a:schemeClr val="tx2"/>
                </a:solidFill>
              </a:rPr>
              <a:t>CronJobs</a:t>
            </a:r>
            <a:endParaRPr lang="en-US" sz="2850" dirty="0">
              <a:solidFill>
                <a:schemeClr val="tx2"/>
              </a:solidFill>
            </a:endParaRP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249397" y="1145347"/>
            <a:ext cx="11334000" cy="4693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Jobs are used for executing “finite tasks”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job creates one or more Pods and ensures that a specified number of them complete successfully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 Batch process, long running calculations, processing items from a work queue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Types – non-parallel, parallel with fixed completion count and parallel with work queue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Success or failure is based on process exit code (success – 0)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CronJobs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Run at a specific  time or recurring schedule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5827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Stateful sets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249397" y="1145347"/>
            <a:ext cx="11334000" cy="4693750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10000"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 to manage deployment for stateful applications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Provides a guarantee on ordering and uniqueness of Pods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Pod has a unique identifier and ordering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Kafka-1, kafka-2 etc.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Identity is maintained even if Pod is rescheduled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Must use persistent volumes for stable, persistent storage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Ordered deployment, scaling and automatic rolling updates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Typically used for implementing cluster architectures like Cassandra where each node of the cluster will have its own stable storage and each node needs to be uniquely identified</a:t>
            </a:r>
          </a:p>
        </p:txBody>
      </p:sp>
    </p:spTree>
    <p:extLst>
      <p:ext uri="{BB962C8B-B14F-4D97-AF65-F5344CB8AC3E}">
        <p14:creationId xmlns:p14="http://schemas.microsoft.com/office/powerpoint/2010/main" val="27065923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Resource quotas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249397" y="936804"/>
            <a:ext cx="10001249" cy="13888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quota limits the resources that a namespace can use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 count of objects, total CPU, total memory, total storage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9C106D-0A91-494E-9B06-FA13CBBE7257}"/>
              </a:ext>
            </a:extLst>
          </p:cNvPr>
          <p:cNvSpPr/>
          <p:nvPr/>
        </p:nvSpPr>
        <p:spPr>
          <a:xfrm>
            <a:off x="522515" y="2468880"/>
            <a:ext cx="3840480" cy="35530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ResourceQuota</a:t>
            </a:r>
            <a:endParaRPr lang="en-GB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red-team-resource-quota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namespace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red-team</a:t>
            </a:r>
          </a:p>
          <a:p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pods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5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"</a:t>
            </a:r>
            <a:r>
              <a:rPr lang="en-GB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requests.cpu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": "2"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"</a:t>
            </a:r>
            <a:r>
              <a:rPr lang="en-GB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requests.memory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": 1024m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"</a:t>
            </a:r>
            <a:r>
              <a:rPr lang="en-GB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limits.cpu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": "4"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GB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limits.memory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": 2048m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C593B3-2AD9-4BCB-BDB2-42BEF56921BC}"/>
              </a:ext>
            </a:extLst>
          </p:cNvPr>
          <p:cNvSpPr/>
          <p:nvPr/>
        </p:nvSpPr>
        <p:spPr>
          <a:xfrm>
            <a:off x="5795555" y="2325651"/>
            <a:ext cx="4641668" cy="44544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Pod</a:t>
            </a:r>
          </a:p>
          <a:p>
            <a:r>
              <a:rPr lang="en-GB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apiVersion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v1</a:t>
            </a:r>
          </a:p>
          <a:p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pod-one 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namespace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red-team</a:t>
            </a:r>
          </a:p>
          <a:p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containers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-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nginx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-pod-one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nginx:1.7.9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resources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requests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768m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GB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"0.5"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limits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GB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1024m</a:t>
            </a:r>
          </a:p>
          <a:p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GB" b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</a:t>
            </a:r>
            <a:r>
              <a:rPr lang="en-GB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"2"</a:t>
            </a:r>
          </a:p>
        </p:txBody>
      </p:sp>
    </p:spTree>
    <p:extLst>
      <p:ext uri="{BB962C8B-B14F-4D97-AF65-F5344CB8AC3E}">
        <p14:creationId xmlns:p14="http://schemas.microsoft.com/office/powerpoint/2010/main" val="41315245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EC2E92B-2C3E-45C4-85B1-48D3F340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404330"/>
            <a:ext cx="10001249" cy="360000"/>
          </a:xfrm>
        </p:spPr>
        <p:txBody>
          <a:bodyPr anchor="ctr">
            <a:normAutofit fontScale="90000"/>
          </a:bodyPr>
          <a:lstStyle/>
          <a:p>
            <a:r>
              <a:rPr lang="en-US" sz="2850" dirty="0">
                <a:solidFill>
                  <a:schemeClr val="tx2"/>
                </a:solidFill>
              </a:rPr>
              <a:t>Learning environments for Kubernetes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A41C64D-8883-4BD1-B2B7-4859B8E6BE83}"/>
              </a:ext>
            </a:extLst>
          </p:cNvPr>
          <p:cNvSpPr txBox="1">
            <a:spLocks/>
          </p:cNvSpPr>
          <p:nvPr/>
        </p:nvSpPr>
        <p:spPr>
          <a:xfrm>
            <a:off x="249397" y="1145347"/>
            <a:ext cx="11334000" cy="4693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2133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20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867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6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Minikube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(single node cluster for learning)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Requires to be installed on a Hypervisor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also be installed on AWS EC2 (or Azure)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https://kubernetes.io/docs/tutorials/hello-minikube/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https://labs.play-with-k8s.com/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(Simple learning playground; can create multiple nodes; limitation on storage and advanced features)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aCloudGuru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offers some good courses along with necessary environment for the labs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809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5237</Words>
  <Application>Microsoft Office PowerPoint</Application>
  <PresentationFormat>Widescreen</PresentationFormat>
  <Paragraphs>919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Arial</vt:lpstr>
      <vt:lpstr>Calibri</vt:lpstr>
      <vt:lpstr>Calibri Light</vt:lpstr>
      <vt:lpstr>Consolas</vt:lpstr>
      <vt:lpstr>Office Theme</vt:lpstr>
      <vt:lpstr>Architecture of Kubernetes</vt:lpstr>
      <vt:lpstr>High level architecture</vt:lpstr>
      <vt:lpstr>Kubernetes Master</vt:lpstr>
      <vt:lpstr>Kubernetes Node</vt:lpstr>
      <vt:lpstr>Kubernetes Objects</vt:lpstr>
      <vt:lpstr>Kubernetes Object space</vt:lpstr>
      <vt:lpstr>Assignment 1</vt:lpstr>
      <vt:lpstr>PODS</vt:lpstr>
      <vt:lpstr>Overview of PODs</vt:lpstr>
      <vt:lpstr>POD Lifecycle</vt:lpstr>
      <vt:lpstr>Advanced configuration – custom command and args</vt:lpstr>
      <vt:lpstr>Advanced configuration – Environment variables</vt:lpstr>
      <vt:lpstr>Container probes – Readiness and Liveness</vt:lpstr>
      <vt:lpstr>Multi container PODs</vt:lpstr>
      <vt:lpstr>Namespace</vt:lpstr>
      <vt:lpstr>Labels and Selectors</vt:lpstr>
      <vt:lpstr>Assignment 2 – Creating your first Pods</vt:lpstr>
      <vt:lpstr>Deployments</vt:lpstr>
      <vt:lpstr>Overview of Deployments</vt:lpstr>
      <vt:lpstr>Deployment YAML</vt:lpstr>
      <vt:lpstr>Rolling updates</vt:lpstr>
      <vt:lpstr>Rolling back and Scaling</vt:lpstr>
      <vt:lpstr>Assignment 3 – Creating deployments</vt:lpstr>
      <vt:lpstr>Services</vt:lpstr>
      <vt:lpstr>Overview of a service</vt:lpstr>
      <vt:lpstr>Service implementation</vt:lpstr>
      <vt:lpstr>Service Types</vt:lpstr>
      <vt:lpstr>Type ClusterIP</vt:lpstr>
      <vt:lpstr>Type NodePort</vt:lpstr>
      <vt:lpstr>Type LoadBalancer</vt:lpstr>
      <vt:lpstr>Type ExternalName</vt:lpstr>
      <vt:lpstr>Alternate approach to invoke external services</vt:lpstr>
      <vt:lpstr>Ingress</vt:lpstr>
      <vt:lpstr>Canary deployments</vt:lpstr>
      <vt:lpstr>Assignment 4 – Exposing services</vt:lpstr>
      <vt:lpstr>Storage</vt:lpstr>
      <vt:lpstr>POD State and Data</vt:lpstr>
      <vt:lpstr>Volumes</vt:lpstr>
      <vt:lpstr>Volume Types</vt:lpstr>
      <vt:lpstr>E.g. of emptyDir volume</vt:lpstr>
      <vt:lpstr>E.g. of AWS volume</vt:lpstr>
      <vt:lpstr>Persistent Volumes</vt:lpstr>
      <vt:lpstr>Persistent Volumes - Lifecyle</vt:lpstr>
      <vt:lpstr>Persistent Volume - YAML</vt:lpstr>
      <vt:lpstr>Persistent Volume Claim - YAML</vt:lpstr>
      <vt:lpstr>Using the PV Claim in a POD YAML</vt:lpstr>
      <vt:lpstr>Storage Classes</vt:lpstr>
      <vt:lpstr>Assignment 5 – Using storage</vt:lpstr>
      <vt:lpstr>ConfigMaps and Secrets</vt:lpstr>
      <vt:lpstr>Overview of ConfigMaps</vt:lpstr>
      <vt:lpstr>Defining ConfigMap values</vt:lpstr>
      <vt:lpstr>Accessing a ConfigMap: Environment Vars</vt:lpstr>
      <vt:lpstr>Accessing a ConfigMap: Volumes</vt:lpstr>
      <vt:lpstr>Secrets</vt:lpstr>
      <vt:lpstr>Good practices for Secrets management</vt:lpstr>
      <vt:lpstr>Creating Secrets</vt:lpstr>
      <vt:lpstr>Other features / topics</vt:lpstr>
      <vt:lpstr>Jobs and CronJobs</vt:lpstr>
      <vt:lpstr>Stateful sets</vt:lpstr>
      <vt:lpstr>Resource quotas</vt:lpstr>
      <vt:lpstr>Learning environments for Kubernetes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 rudra</dc:creator>
  <cp:lastModifiedBy>vishwa rudra</cp:lastModifiedBy>
  <cp:revision>16</cp:revision>
  <dcterms:created xsi:type="dcterms:W3CDTF">2026-09-18T16:29:39Z</dcterms:created>
  <dcterms:modified xsi:type="dcterms:W3CDTF">2026-09-18T16:41:50Z</dcterms:modified>
</cp:coreProperties>
</file>